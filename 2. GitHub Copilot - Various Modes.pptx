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D3C7ED-5192-4BCA-B5C8-0D345393F4D3}" type="datetimeFigureOut">
              <a:rPr lang="en-IN" smtClean="0"/>
              <a:t>16-01-2026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F9CC3-2089-468C-859C-5E3002A3B78F}" type="slidenum">
              <a:rPr lang="en-IN" smtClean="0"/>
              <a:t>‹#›</a:t>
            </a:fld>
            <a:endParaRPr lang="en-IN"/>
          </a:p>
        </p:txBody>
      </p:sp>
    </p:spTree>
    <p:extLst>
      <p:ext uri="{BB962C8B-B14F-4D97-AF65-F5344CB8AC3E}">
        <p14:creationId xmlns:p14="http://schemas.microsoft.com/office/powerpoint/2010/main" val="1902907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3F9CC3-2089-468C-859C-5E3002A3B78F}" type="slidenum">
              <a:rPr lang="en-IN" smtClean="0"/>
              <a:t>2</a:t>
            </a:fld>
            <a:endParaRPr lang="en-IN" dirty="0"/>
          </a:p>
        </p:txBody>
      </p:sp>
    </p:spTree>
    <p:extLst>
      <p:ext uri="{BB962C8B-B14F-4D97-AF65-F5344CB8AC3E}">
        <p14:creationId xmlns:p14="http://schemas.microsoft.com/office/powerpoint/2010/main" val="2037537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F63F9-FFF9-9AB9-5435-44B159757C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8253C-9F85-EBFE-F938-63147A1FC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0A376-D01E-9941-6392-D6E726F80AD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0BC7B9-2D1F-4D70-7EEC-1824AE32F23E}"/>
              </a:ext>
            </a:extLst>
          </p:cNvPr>
          <p:cNvSpPr>
            <a:spLocks noGrp="1"/>
          </p:cNvSpPr>
          <p:nvPr>
            <p:ph type="sldNum" sz="quarter" idx="5"/>
          </p:nvPr>
        </p:nvSpPr>
        <p:spPr/>
        <p:txBody>
          <a:bodyPr/>
          <a:lstStyle/>
          <a:p>
            <a:fld id="{EB3F9CC3-2089-468C-859C-5E3002A3B78F}" type="slidenum">
              <a:rPr lang="en-IN" smtClean="0"/>
              <a:t>3</a:t>
            </a:fld>
            <a:endParaRPr lang="en-IN" dirty="0"/>
          </a:p>
        </p:txBody>
      </p:sp>
    </p:spTree>
    <p:extLst>
      <p:ext uri="{BB962C8B-B14F-4D97-AF65-F5344CB8AC3E}">
        <p14:creationId xmlns:p14="http://schemas.microsoft.com/office/powerpoint/2010/main" val="1586566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74C1-796D-71CB-B9A0-2EED7AC49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6E664-9477-B40B-1F22-509F7949E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DEA70-16C0-37F0-B4EC-EC873E0181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35C2117-6C7D-541A-4F70-0C4EBF9FE97A}"/>
              </a:ext>
            </a:extLst>
          </p:cNvPr>
          <p:cNvSpPr>
            <a:spLocks noGrp="1"/>
          </p:cNvSpPr>
          <p:nvPr>
            <p:ph type="sldNum" sz="quarter" idx="5"/>
          </p:nvPr>
        </p:nvSpPr>
        <p:spPr/>
        <p:txBody>
          <a:bodyPr/>
          <a:lstStyle/>
          <a:p>
            <a:fld id="{EB3F9CC3-2089-468C-859C-5E3002A3B78F}" type="slidenum">
              <a:rPr lang="en-IN" smtClean="0"/>
              <a:t>4</a:t>
            </a:fld>
            <a:endParaRPr lang="en-IN" dirty="0"/>
          </a:p>
        </p:txBody>
      </p:sp>
    </p:spTree>
    <p:extLst>
      <p:ext uri="{BB962C8B-B14F-4D97-AF65-F5344CB8AC3E}">
        <p14:creationId xmlns:p14="http://schemas.microsoft.com/office/powerpoint/2010/main" val="334803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FD52-6F7B-A1BC-2A7E-7F5F2D652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836A4-D8DA-5D6F-3928-7A2DA3E81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961FD-2841-7126-001C-AE1ED2D932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1D47467-6064-1F2B-A9CA-FCB532652A19}"/>
              </a:ext>
            </a:extLst>
          </p:cNvPr>
          <p:cNvSpPr>
            <a:spLocks noGrp="1"/>
          </p:cNvSpPr>
          <p:nvPr>
            <p:ph type="sldNum" sz="quarter" idx="5"/>
          </p:nvPr>
        </p:nvSpPr>
        <p:spPr/>
        <p:txBody>
          <a:bodyPr/>
          <a:lstStyle/>
          <a:p>
            <a:fld id="{EB3F9CC3-2089-468C-859C-5E3002A3B78F}" type="slidenum">
              <a:rPr lang="en-IN" smtClean="0"/>
              <a:t>5</a:t>
            </a:fld>
            <a:endParaRPr lang="en-IN" dirty="0"/>
          </a:p>
        </p:txBody>
      </p:sp>
    </p:spTree>
    <p:extLst>
      <p:ext uri="{BB962C8B-B14F-4D97-AF65-F5344CB8AC3E}">
        <p14:creationId xmlns:p14="http://schemas.microsoft.com/office/powerpoint/2010/main" val="2799801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7162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6225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93376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7336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187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8816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4879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5188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773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0140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52356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31278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pic>
        <p:nvPicPr>
          <p:cNvPr id="4" name="Picture 3">
            <a:extLst>
              <a:ext uri="{FF2B5EF4-FFF2-40B4-BE49-F238E27FC236}">
                <a16:creationId xmlns:a16="http://schemas.microsoft.com/office/drawing/2014/main" id="{4D44F474-2FBA-EA2B-E472-6B242BB677E0}"/>
              </a:ext>
            </a:extLst>
          </p:cNvPr>
          <p:cNvPicPr>
            <a:picLocks noChangeAspect="1"/>
          </p:cNvPicPr>
          <p:nvPr/>
        </p:nvPicPr>
        <p:blipFill>
          <a:blip r:embed="rId2"/>
          <a:srcRect b="6250"/>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233401CC-D8AC-50CB-E02E-21828D9CF920}"/>
              </a:ext>
            </a:extLst>
          </p:cNvPr>
          <p:cNvSpPr>
            <a:spLocks noGrp="1"/>
          </p:cNvSpPr>
          <p:nvPr>
            <p:ph type="ctrTitle"/>
          </p:nvPr>
        </p:nvSpPr>
        <p:spPr>
          <a:xfrm>
            <a:off x="313786" y="908651"/>
            <a:ext cx="5497734" cy="4005454"/>
          </a:xfrm>
        </p:spPr>
        <p:txBody>
          <a:bodyPr anchor="t">
            <a:normAutofit/>
          </a:bodyPr>
          <a:lstStyle/>
          <a:p>
            <a:r>
              <a:rPr lang="en-IN" sz="6800" dirty="0">
                <a:solidFill>
                  <a:schemeClr val="bg1"/>
                </a:solidFill>
                <a:latin typeface="Akira Expanded" panose="02000800000000000000" pitchFamily="50" charset="0"/>
              </a:rPr>
              <a:t>GitHub Copilot</a:t>
            </a:r>
          </a:p>
        </p:txBody>
      </p:sp>
      <p:sp>
        <p:nvSpPr>
          <p:cNvPr id="3" name="Subtitle 2">
            <a:extLst>
              <a:ext uri="{FF2B5EF4-FFF2-40B4-BE49-F238E27FC236}">
                <a16:creationId xmlns:a16="http://schemas.microsoft.com/office/drawing/2014/main" id="{A02B54E3-B2E3-26E6-8A23-DD212FF5D145}"/>
              </a:ext>
            </a:extLst>
          </p:cNvPr>
          <p:cNvSpPr>
            <a:spLocks noGrp="1"/>
          </p:cNvSpPr>
          <p:nvPr>
            <p:ph type="subTitle" idx="1"/>
          </p:nvPr>
        </p:nvSpPr>
        <p:spPr>
          <a:xfrm>
            <a:off x="313785" y="5050633"/>
            <a:ext cx="5435081" cy="772114"/>
          </a:xfrm>
          <a:solidFill>
            <a:srgbClr val="00B0F0"/>
          </a:solidFill>
        </p:spPr>
        <p:txBody>
          <a:bodyPr anchor="t">
            <a:normAutofit fontScale="77500" lnSpcReduction="20000"/>
          </a:bodyPr>
          <a:lstStyle/>
          <a:p>
            <a:r>
              <a:rPr lang="en-US" sz="2200" dirty="0">
                <a:ln w="19050">
                  <a:solidFill>
                    <a:schemeClr val="bg1">
                      <a:lumMod val="65000"/>
                      <a:lumOff val="35000"/>
                    </a:schemeClr>
                  </a:solidFill>
                </a:ln>
                <a:effectLst>
                  <a:outerShdw blurRad="50800" dist="38100" algn="l" rotWithShape="0">
                    <a:prstClr val="black">
                      <a:alpha val="40000"/>
                    </a:prstClr>
                  </a:outerShdw>
                </a:effectLst>
                <a:latin typeface="Akira Expanded" panose="02000800000000000000" pitchFamily="50" charset="0"/>
              </a:rPr>
              <a:t>GitHub Copilot Agent Chat modes: Agent, Plan, Edit, Ask</a:t>
            </a:r>
            <a:endParaRPr lang="en-IN" sz="2200" dirty="0">
              <a:ln w="19050">
                <a:solidFill>
                  <a:schemeClr val="bg1">
                    <a:lumMod val="65000"/>
                    <a:lumOff val="35000"/>
                  </a:schemeClr>
                </a:solidFill>
              </a:ln>
              <a:effectLst>
                <a:outerShdw blurRad="50800" dist="38100" algn="l" rotWithShape="0">
                  <a:prstClr val="black">
                    <a:alpha val="40000"/>
                  </a:prstClr>
                </a:outerShdw>
              </a:effectLst>
              <a:latin typeface="Akira Expanded" panose="02000800000000000000" pitchFamily="50" charset="0"/>
            </a:endParaRP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57843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038BEE-BF7F-DACE-C994-0431D2580C53}"/>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Ask mode</a:t>
            </a:r>
          </a:p>
        </p:txBody>
      </p:sp>
      <p:cxnSp>
        <p:nvCxnSpPr>
          <p:cNvPr id="11" name="Straight Connector 10">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0F72C87-2407-6303-C292-80982DED7771}"/>
              </a:ext>
            </a:extLst>
          </p:cNvPr>
          <p:cNvSpPr>
            <a:spLocks noGrp="1"/>
          </p:cNvSpPr>
          <p:nvPr>
            <p:ph idx="1"/>
          </p:nvPr>
        </p:nvSpPr>
        <p:spPr>
          <a:xfrm>
            <a:off x="883252" y="1838391"/>
            <a:ext cx="6239599" cy="2946260"/>
          </a:xfrm>
        </p:spPr>
        <p:txBody>
          <a:bodyPr>
            <a:normAutofit fontScale="92500" lnSpcReduction="10000"/>
          </a:bodyPr>
          <a:lstStyle/>
          <a:p>
            <a:pPr marL="0" indent="0">
              <a:buNone/>
            </a:pPr>
            <a:r>
              <a:rPr lang="en-US" dirty="0">
                <a:latin typeface="+mj-lt"/>
              </a:rPr>
              <a:t>Ask mode is optimized for answering questions about your codebase, coding concepts, errors, and options. It typically doesn’t try to autonomously change lots of files—it’s your “talk it through” mode</a:t>
            </a:r>
          </a:p>
          <a:p>
            <a:r>
              <a:rPr lang="en-US" dirty="0">
                <a:latin typeface="+mj-lt"/>
              </a:rPr>
              <a:t>“Explain what this function does / why this bug happens”</a:t>
            </a:r>
          </a:p>
          <a:p>
            <a:r>
              <a:rPr lang="en-US" dirty="0">
                <a:latin typeface="+mj-lt"/>
              </a:rPr>
              <a:t>“What’s the right approach?” or “Compare options”</a:t>
            </a:r>
          </a:p>
          <a:p>
            <a:r>
              <a:rPr lang="en-US" dirty="0">
                <a:latin typeface="+mj-lt"/>
              </a:rPr>
              <a:t>“Help reading stack traces, docs, or unfamiliar code.</a:t>
            </a:r>
          </a:p>
          <a:p>
            <a:r>
              <a:rPr lang="en-US" dirty="0">
                <a:latin typeface="+mj-lt"/>
              </a:rPr>
              <a:t>Regular ChatGPT</a:t>
            </a:r>
            <a:endParaRPr lang="en-IN" dirty="0">
              <a:latin typeface="+mj-lt"/>
            </a:endParaRPr>
          </a:p>
        </p:txBody>
      </p:sp>
      <p:pic>
        <p:nvPicPr>
          <p:cNvPr id="15" name="Picture 14">
            <a:extLst>
              <a:ext uri="{FF2B5EF4-FFF2-40B4-BE49-F238E27FC236}">
                <a16:creationId xmlns:a16="http://schemas.microsoft.com/office/drawing/2014/main" id="{1152179A-7ABD-B841-CC59-850044E84338}"/>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14" name="Picture 13">
            <a:extLst>
              <a:ext uri="{FF2B5EF4-FFF2-40B4-BE49-F238E27FC236}">
                <a16:creationId xmlns:a16="http://schemas.microsoft.com/office/drawing/2014/main" id="{0A8F8038-F0BA-2DC0-5F7E-DFD639CA1F62}"/>
              </a:ext>
            </a:extLst>
          </p:cNvPr>
          <p:cNvPicPr>
            <a:picLocks noChangeAspect="1"/>
          </p:cNvPicPr>
          <p:nvPr/>
        </p:nvPicPr>
        <p:blipFill>
          <a:blip r:embed="rId4"/>
          <a:srcRect l="6622"/>
          <a:stretch>
            <a:fillRect/>
          </a:stretch>
        </p:blipFill>
        <p:spPr>
          <a:xfrm>
            <a:off x="7295490" y="638491"/>
            <a:ext cx="4436846" cy="5581018"/>
          </a:xfrm>
          <a:prstGeom prst="rect">
            <a:avLst/>
          </a:prstGeom>
        </p:spPr>
      </p:pic>
      <p:pic>
        <p:nvPicPr>
          <p:cNvPr id="17" name="Graphic 16" descr="Checkmark with solid fill">
            <a:extLst>
              <a:ext uri="{FF2B5EF4-FFF2-40B4-BE49-F238E27FC236}">
                <a16:creationId xmlns:a16="http://schemas.microsoft.com/office/drawing/2014/main" id="{90712D24-0D65-914A-CC96-3EF27A1C28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81906" y="4732233"/>
            <a:ext cx="334002" cy="334002"/>
          </a:xfrm>
          <a:prstGeom prst="rect">
            <a:avLst/>
          </a:prstGeom>
        </p:spPr>
      </p:pic>
    </p:spTree>
    <p:extLst>
      <p:ext uri="{BB962C8B-B14F-4D97-AF65-F5344CB8AC3E}">
        <p14:creationId xmlns:p14="http://schemas.microsoft.com/office/powerpoint/2010/main" val="3792715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F1F48A-42C6-214F-4F1B-83156092C2B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3A71562-BAB8-5809-2FA1-9B6E60C89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6220CD-174B-EFC2-12A0-06B9E2270706}"/>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Edit mode</a:t>
            </a:r>
          </a:p>
        </p:txBody>
      </p:sp>
      <p:cxnSp>
        <p:nvCxnSpPr>
          <p:cNvPr id="11" name="Straight Connector 10">
            <a:extLst>
              <a:ext uri="{FF2B5EF4-FFF2-40B4-BE49-F238E27FC236}">
                <a16:creationId xmlns:a16="http://schemas.microsoft.com/office/drawing/2014/main" id="{7F2D19EB-D520-3E72-602F-66F3CF20A3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8D8C86-3FF7-F0DB-D85C-97ABC93A1D00}"/>
              </a:ext>
            </a:extLst>
          </p:cNvPr>
          <p:cNvSpPr>
            <a:spLocks noGrp="1"/>
          </p:cNvSpPr>
          <p:nvPr>
            <p:ph idx="1"/>
          </p:nvPr>
        </p:nvSpPr>
        <p:spPr>
          <a:xfrm>
            <a:off x="883252" y="1838391"/>
            <a:ext cx="6239599" cy="2465252"/>
          </a:xfrm>
        </p:spPr>
        <p:txBody>
          <a:bodyPr>
            <a:normAutofit/>
          </a:bodyPr>
          <a:lstStyle/>
          <a:p>
            <a:pPr marL="0" indent="0">
              <a:buNone/>
            </a:pPr>
            <a:r>
              <a:rPr lang="en-US" dirty="0">
                <a:latin typeface="+mj-lt"/>
              </a:rPr>
              <a:t>Edit mode allows you to describe a desired code change in natural language and then review and apply the proposed, file-specific changes directly in your editor</a:t>
            </a:r>
          </a:p>
          <a:p>
            <a:pPr lvl="1"/>
            <a:r>
              <a:rPr lang="en-US" dirty="0">
                <a:latin typeface="+mj-lt"/>
              </a:rPr>
              <a:t>You want to make a quick, specific update to a defined set of files.</a:t>
            </a:r>
          </a:p>
          <a:p>
            <a:pPr lvl="1"/>
            <a:r>
              <a:rPr lang="en-US" dirty="0">
                <a:latin typeface="+mj-lt"/>
              </a:rPr>
              <a:t>You want full control over the number of LLM requests Copilot uses.</a:t>
            </a:r>
          </a:p>
        </p:txBody>
      </p:sp>
      <p:pic>
        <p:nvPicPr>
          <p:cNvPr id="15" name="Picture 14">
            <a:extLst>
              <a:ext uri="{FF2B5EF4-FFF2-40B4-BE49-F238E27FC236}">
                <a16:creationId xmlns:a16="http://schemas.microsoft.com/office/drawing/2014/main" id="{8EC2E9FB-2EE9-DA83-CB57-AA3E8AB4595F}"/>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14" name="Picture 13">
            <a:extLst>
              <a:ext uri="{FF2B5EF4-FFF2-40B4-BE49-F238E27FC236}">
                <a16:creationId xmlns:a16="http://schemas.microsoft.com/office/drawing/2014/main" id="{96D4A295-510D-7B20-EFB6-4FD9E88F6C32}"/>
              </a:ext>
            </a:extLst>
          </p:cNvPr>
          <p:cNvPicPr>
            <a:picLocks noChangeAspect="1"/>
          </p:cNvPicPr>
          <p:nvPr/>
        </p:nvPicPr>
        <p:blipFill>
          <a:blip r:embed="rId4"/>
          <a:srcRect l="6622"/>
          <a:stretch>
            <a:fillRect/>
          </a:stretch>
        </p:blipFill>
        <p:spPr>
          <a:xfrm>
            <a:off x="7295490" y="638491"/>
            <a:ext cx="4436846" cy="5581018"/>
          </a:xfrm>
          <a:prstGeom prst="rect">
            <a:avLst/>
          </a:prstGeom>
        </p:spPr>
      </p:pic>
      <p:pic>
        <p:nvPicPr>
          <p:cNvPr id="4" name="Graphic 3" descr="Checkmark with solid fill">
            <a:extLst>
              <a:ext uri="{FF2B5EF4-FFF2-40B4-BE49-F238E27FC236}">
                <a16:creationId xmlns:a16="http://schemas.microsoft.com/office/drawing/2014/main" id="{E8C2DE60-1630-F8AC-0CB1-CB9A76C001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81906" y="5010139"/>
            <a:ext cx="334002" cy="334002"/>
          </a:xfrm>
          <a:prstGeom prst="rect">
            <a:avLst/>
          </a:prstGeom>
        </p:spPr>
      </p:pic>
    </p:spTree>
    <p:extLst>
      <p:ext uri="{BB962C8B-B14F-4D97-AF65-F5344CB8AC3E}">
        <p14:creationId xmlns:p14="http://schemas.microsoft.com/office/powerpoint/2010/main" val="304058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D9FB5E-DE38-7F25-CF26-BA88CB62875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D48A65A-0FF0-816C-E4F6-BA687BB76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0BDC1C-D4F0-2EC6-FEBD-2BFDD02D9C72}"/>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Edit mode</a:t>
            </a:r>
          </a:p>
        </p:txBody>
      </p:sp>
      <p:cxnSp>
        <p:nvCxnSpPr>
          <p:cNvPr id="11" name="Straight Connector 10">
            <a:extLst>
              <a:ext uri="{FF2B5EF4-FFF2-40B4-BE49-F238E27FC236}">
                <a16:creationId xmlns:a16="http://schemas.microsoft.com/office/drawing/2014/main" id="{CBABD71F-8763-DD81-CD7C-F4A0763E0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3B16FF1-E3B6-858F-7668-46B72AC176BF}"/>
              </a:ext>
            </a:extLst>
          </p:cNvPr>
          <p:cNvSpPr>
            <a:spLocks noGrp="1"/>
          </p:cNvSpPr>
          <p:nvPr>
            <p:ph idx="1"/>
          </p:nvPr>
        </p:nvSpPr>
        <p:spPr>
          <a:xfrm>
            <a:off x="883252" y="1838391"/>
            <a:ext cx="6239599" cy="3352174"/>
          </a:xfrm>
        </p:spPr>
        <p:txBody>
          <a:bodyPr>
            <a:normAutofit fontScale="92500" lnSpcReduction="10000"/>
          </a:bodyPr>
          <a:lstStyle/>
          <a:p>
            <a:pPr marL="0" indent="0">
              <a:buNone/>
            </a:pPr>
            <a:r>
              <a:rPr lang="en-US" dirty="0">
                <a:latin typeface="+mj-lt"/>
              </a:rPr>
              <a:t>In agent mode, Copilot determines which files to make changes to, offers code changes and terminal commands to complete the task, and iterates to remediate issues until the original task is complete. You want to make a quick, specific update to a defined set of files.</a:t>
            </a:r>
          </a:p>
          <a:p>
            <a:pPr lvl="1"/>
            <a:r>
              <a:rPr lang="en-US" dirty="0">
                <a:latin typeface="+mj-lt"/>
              </a:rPr>
              <a:t>Your task is complex, and involves multiple steps, iterations, and error handling.</a:t>
            </a:r>
          </a:p>
          <a:p>
            <a:pPr lvl="1"/>
            <a:r>
              <a:rPr lang="en-US" dirty="0">
                <a:latin typeface="+mj-lt"/>
              </a:rPr>
              <a:t>You want Copilot to determine the necessary steps to take to complete the task.</a:t>
            </a:r>
          </a:p>
          <a:p>
            <a:pPr lvl="1"/>
            <a:r>
              <a:rPr lang="en-US" dirty="0">
                <a:latin typeface="+mj-lt"/>
              </a:rPr>
              <a:t>The task requires Copilot to integrate with external applications, such as an MCP server.</a:t>
            </a:r>
          </a:p>
        </p:txBody>
      </p:sp>
      <p:pic>
        <p:nvPicPr>
          <p:cNvPr id="15" name="Picture 14">
            <a:extLst>
              <a:ext uri="{FF2B5EF4-FFF2-40B4-BE49-F238E27FC236}">
                <a16:creationId xmlns:a16="http://schemas.microsoft.com/office/drawing/2014/main" id="{112F2BC2-8914-63CC-984B-7E5DB4880604}"/>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14" name="Picture 13">
            <a:extLst>
              <a:ext uri="{FF2B5EF4-FFF2-40B4-BE49-F238E27FC236}">
                <a16:creationId xmlns:a16="http://schemas.microsoft.com/office/drawing/2014/main" id="{AFD4D543-CA4D-C7C4-0238-DD6999943615}"/>
              </a:ext>
            </a:extLst>
          </p:cNvPr>
          <p:cNvPicPr>
            <a:picLocks noChangeAspect="1"/>
          </p:cNvPicPr>
          <p:nvPr/>
        </p:nvPicPr>
        <p:blipFill>
          <a:blip r:embed="rId4"/>
          <a:srcRect l="6622"/>
          <a:stretch>
            <a:fillRect/>
          </a:stretch>
        </p:blipFill>
        <p:spPr>
          <a:xfrm>
            <a:off x="7295490" y="638491"/>
            <a:ext cx="4436846" cy="5581018"/>
          </a:xfrm>
          <a:prstGeom prst="rect">
            <a:avLst/>
          </a:prstGeom>
        </p:spPr>
      </p:pic>
      <p:pic>
        <p:nvPicPr>
          <p:cNvPr id="4" name="Graphic 3" descr="Checkmark with solid fill">
            <a:extLst>
              <a:ext uri="{FF2B5EF4-FFF2-40B4-BE49-F238E27FC236}">
                <a16:creationId xmlns:a16="http://schemas.microsoft.com/office/drawing/2014/main" id="{EF2E2EC2-462A-9C21-7862-21BF5EC6F2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62591" y="4427435"/>
            <a:ext cx="334002" cy="334002"/>
          </a:xfrm>
          <a:prstGeom prst="rect">
            <a:avLst/>
          </a:prstGeom>
        </p:spPr>
      </p:pic>
    </p:spTree>
    <p:extLst>
      <p:ext uri="{BB962C8B-B14F-4D97-AF65-F5344CB8AC3E}">
        <p14:creationId xmlns:p14="http://schemas.microsoft.com/office/powerpoint/2010/main" val="235031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CFF8C9-AC87-3DFA-F531-71C4117744D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841F7D2-7DB9-A3C3-2360-D4B2550C8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3918C1-D493-4B52-3A74-44AC932DE50D}"/>
              </a:ext>
            </a:extLst>
          </p:cNvPr>
          <p:cNvSpPr>
            <a:spLocks noGrp="1"/>
          </p:cNvSpPr>
          <p:nvPr>
            <p:ph type="title"/>
          </p:nvPr>
        </p:nvSpPr>
        <p:spPr>
          <a:xfrm>
            <a:off x="704088" y="914400"/>
            <a:ext cx="6239599" cy="1307590"/>
          </a:xfrm>
        </p:spPr>
        <p:txBody>
          <a:bodyPr vert="horz" lIns="91440" tIns="45720" rIns="91440" bIns="45720" rtlCol="0" anchor="t">
            <a:normAutofit/>
          </a:bodyPr>
          <a:lstStyle/>
          <a:p>
            <a:r>
              <a:rPr lang="en-IN" dirty="0"/>
              <a:t>PLAN mode</a:t>
            </a:r>
          </a:p>
        </p:txBody>
      </p:sp>
      <p:cxnSp>
        <p:nvCxnSpPr>
          <p:cNvPr id="11" name="Straight Connector 10">
            <a:extLst>
              <a:ext uri="{FF2B5EF4-FFF2-40B4-BE49-F238E27FC236}">
                <a16:creationId xmlns:a16="http://schemas.microsoft.com/office/drawing/2014/main" id="{F640B377-536D-97FF-FD72-DCC5B9B0CE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FA05FE3-381F-B0BB-10EB-A774F717D0DE}"/>
              </a:ext>
            </a:extLst>
          </p:cNvPr>
          <p:cNvSpPr>
            <a:spLocks noGrp="1"/>
          </p:cNvSpPr>
          <p:nvPr>
            <p:ph idx="1"/>
          </p:nvPr>
        </p:nvSpPr>
        <p:spPr>
          <a:xfrm>
            <a:off x="883252" y="1838391"/>
            <a:ext cx="6239599" cy="3352174"/>
          </a:xfrm>
        </p:spPr>
        <p:txBody>
          <a:bodyPr>
            <a:normAutofit/>
          </a:bodyPr>
          <a:lstStyle/>
          <a:p>
            <a:pPr marL="0" indent="0">
              <a:buNone/>
            </a:pPr>
            <a:r>
              <a:rPr lang="en-US" dirty="0">
                <a:latin typeface="+mj-lt"/>
              </a:rPr>
              <a:t>Plan mode is a feature that creates a detailed, step-by-step implementation strategy for a given high-level task before any code is written or changed. Your task is complex, and involves multiple steps, iterations, and error handling.</a:t>
            </a:r>
          </a:p>
          <a:p>
            <a:pPr lvl="1"/>
            <a:r>
              <a:rPr lang="en-US" dirty="0">
                <a:latin typeface="+mj-lt"/>
              </a:rPr>
              <a:t>You want Copilot to determine the necessary steps to take to complete the task.</a:t>
            </a:r>
          </a:p>
          <a:p>
            <a:pPr lvl="1"/>
            <a:r>
              <a:rPr lang="en-US" dirty="0">
                <a:latin typeface="+mj-lt"/>
              </a:rPr>
              <a:t>The task requires Copilot to integrate with external applications, such as an MCP server.</a:t>
            </a:r>
          </a:p>
        </p:txBody>
      </p:sp>
      <p:pic>
        <p:nvPicPr>
          <p:cNvPr id="15" name="Picture 14">
            <a:extLst>
              <a:ext uri="{FF2B5EF4-FFF2-40B4-BE49-F238E27FC236}">
                <a16:creationId xmlns:a16="http://schemas.microsoft.com/office/drawing/2014/main" id="{F6EB2AED-D34E-D295-34D5-BED5C1CC4B83}"/>
              </a:ext>
            </a:extLst>
          </p:cNvPr>
          <p:cNvPicPr>
            <a:picLocks noChangeAspect="1"/>
          </p:cNvPicPr>
          <p:nvPr/>
        </p:nvPicPr>
        <p:blipFill>
          <a:blip r:embed="rId3"/>
          <a:srcRect l="18451" r="41229"/>
          <a:stretch>
            <a:fillRect/>
          </a:stretch>
        </p:blipFill>
        <p:spPr>
          <a:xfrm>
            <a:off x="7583424" y="10"/>
            <a:ext cx="4608576" cy="6857990"/>
          </a:xfrm>
          <a:prstGeom prst="rect">
            <a:avLst/>
          </a:prstGeom>
        </p:spPr>
      </p:pic>
      <p:pic>
        <p:nvPicPr>
          <p:cNvPr id="14" name="Picture 13">
            <a:extLst>
              <a:ext uri="{FF2B5EF4-FFF2-40B4-BE49-F238E27FC236}">
                <a16:creationId xmlns:a16="http://schemas.microsoft.com/office/drawing/2014/main" id="{6A047C33-75F4-47B0-F94A-DA928E9DABD4}"/>
              </a:ext>
            </a:extLst>
          </p:cNvPr>
          <p:cNvPicPr>
            <a:picLocks noChangeAspect="1"/>
          </p:cNvPicPr>
          <p:nvPr/>
        </p:nvPicPr>
        <p:blipFill>
          <a:blip r:embed="rId4"/>
          <a:srcRect l="6622"/>
          <a:stretch>
            <a:fillRect/>
          </a:stretch>
        </p:blipFill>
        <p:spPr>
          <a:xfrm>
            <a:off x="7295490" y="638491"/>
            <a:ext cx="4436846" cy="5581018"/>
          </a:xfrm>
          <a:prstGeom prst="rect">
            <a:avLst/>
          </a:prstGeom>
        </p:spPr>
      </p:pic>
      <p:pic>
        <p:nvPicPr>
          <p:cNvPr id="4" name="Graphic 3" descr="Checkmark with solid fill">
            <a:extLst>
              <a:ext uri="{FF2B5EF4-FFF2-40B4-BE49-F238E27FC236}">
                <a16:creationId xmlns:a16="http://schemas.microsoft.com/office/drawing/2014/main" id="{C3F305EA-D7B1-0329-A067-9094AC785B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99836" y="5305975"/>
            <a:ext cx="334002" cy="334002"/>
          </a:xfrm>
          <a:prstGeom prst="rect">
            <a:avLst/>
          </a:prstGeom>
        </p:spPr>
      </p:pic>
    </p:spTree>
    <p:extLst>
      <p:ext uri="{BB962C8B-B14F-4D97-AF65-F5344CB8AC3E}">
        <p14:creationId xmlns:p14="http://schemas.microsoft.com/office/powerpoint/2010/main" val="1620707573"/>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504</TotalTime>
  <Words>330</Words>
  <Application>Microsoft Office PowerPoint</Application>
  <PresentationFormat>Widescreen</PresentationFormat>
  <Paragraphs>25</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Akira Expanded</vt:lpstr>
      <vt:lpstr>Aptos</vt:lpstr>
      <vt:lpstr>Arial</vt:lpstr>
      <vt:lpstr>Calisto MT</vt:lpstr>
      <vt:lpstr>Univers Condensed</vt:lpstr>
      <vt:lpstr>ChronicleVTI</vt:lpstr>
      <vt:lpstr>GitHub Copilot</vt:lpstr>
      <vt:lpstr>Ask mode</vt:lpstr>
      <vt:lpstr>Edit mode</vt:lpstr>
      <vt:lpstr>Edit mode</vt:lpstr>
      <vt:lpstr>PLAN mode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Perepa</dc:creator>
  <cp:lastModifiedBy>Vijay Perepa</cp:lastModifiedBy>
  <cp:revision>6</cp:revision>
  <dcterms:created xsi:type="dcterms:W3CDTF">2026-01-16T06:17:20Z</dcterms:created>
  <dcterms:modified xsi:type="dcterms:W3CDTF">2026-01-16T15:03:44Z</dcterms:modified>
</cp:coreProperties>
</file>