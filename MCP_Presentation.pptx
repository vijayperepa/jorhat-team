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MCP Server and GitHub Copilot Integration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Comprehensive Guide to Model Context Protocol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MCP Server?</a:t>
            </a:r>
            <a:r>
              <a:rPr/>
              <a:t> </a:t>
            </a:r>
            <a:r>
              <a:rPr i="1"/>
              <a:t>Understanding Model Context Protocol and Its Power with GitHub Copilot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Large title centered - Subtitle below - Background: Gradient from blue to purple - Icon: Network/connection diagram - Footer: Your name and date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Introduction - 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Before MCP: The AI Context Problem</a:t>
            </a:r>
          </a:p>
          <a:p>
            <a:pPr lvl="0" indent="0" marL="0">
              <a:buNone/>
            </a:pPr>
            <a:r>
              <a:rPr b="1"/>
              <a:t>Key Points:</a:t>
            </a:r>
            <a:r>
              <a:rPr/>
              <a:t> - AI assistants work in isolation - No access to your actual project data - Generic suggestions based on training data only - Manual context switching required - Limited understanding of your specific environment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Icon: Isolated island or disconnected nodes - Diagram: AI assistant separated from database, files, APIs - Color scheme: Red/orange indicating limitation - Use “❌” symbols to show disconnections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 Context Protocol (MCP)</a:t>
            </a:r>
          </a:p>
          <a:p>
            <a:pPr lvl="0" indent="0" marL="0">
              <a:buNone/>
            </a:pPr>
            <a:r>
              <a:rPr b="1"/>
              <a:t>Definition:</a:t>
            </a:r>
            <a:r>
              <a:rPr/>
              <a:t> An open-standard protocol created by Anthropic that enables AI assistants to securely connect to external data sources and tools.</a:t>
            </a:r>
          </a:p>
          <a:p>
            <a:pPr lvl="0" indent="0" marL="0">
              <a:buNone/>
            </a:pPr>
            <a:r>
              <a:rPr b="1"/>
              <a:t>Key Characteristics:</a:t>
            </a:r>
            <a:r>
              <a:rPr/>
              <a:t> - 🔓 </a:t>
            </a:r>
            <a:r>
              <a:rPr b="1"/>
              <a:t>Open Standard</a:t>
            </a:r>
            <a:r>
              <a:rPr/>
              <a:t> - Available to all developers - 🔒 </a:t>
            </a:r>
            <a:r>
              <a:rPr b="1"/>
              <a:t>Secure</a:t>
            </a:r>
            <a:r>
              <a:rPr/>
              <a:t> - Controlled access patterns - 🔌 </a:t>
            </a:r>
            <a:r>
              <a:rPr b="1"/>
              <a:t>Universal</a:t>
            </a:r>
            <a:r>
              <a:rPr/>
              <a:t> - Works across different AI platforms - 🚀 </a:t>
            </a:r>
            <a:r>
              <a:rPr b="1"/>
              <a:t>Extensible</a:t>
            </a:r>
            <a:r>
              <a:rPr/>
              <a:t> - Custom servers for any use case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Central MCP logo/icon - Four quadrants showing each characteristic - Connection lines radiating from center - Modern, tech-focused design - Color: Blue/cyan for trust and technology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MCP Architecture - The Three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MCP Works: The Trinity</a:t>
            </a:r>
          </a:p>
          <a:p>
            <a:pPr lvl="0" indent="0" marL="0">
              <a:buNone/>
            </a:pPr>
            <a:r>
              <a:rPr b="1"/>
              <a:t>1. MCP Hosts (AI Applications)</a:t>
            </a:r>
            <a:r>
              <a:rPr/>
              <a:t> - GitHub Copilot - Claude Desktop - Custom AI assistants - IDEs and editors</a:t>
            </a:r>
          </a:p>
          <a:p>
            <a:pPr lvl="0" indent="0" marL="0">
              <a:buNone/>
            </a:pPr>
            <a:r>
              <a:rPr b="1"/>
              <a:t>2. MCP Servers (Data Providers)</a:t>
            </a:r>
            <a:r>
              <a:rPr/>
              <a:t> - Database servers - File system servers - API connectors - Custom business logic</a:t>
            </a:r>
          </a:p>
          <a:p>
            <a:pPr lvl="0" indent="0" marL="0">
              <a:buNone/>
            </a:pPr>
            <a:r>
              <a:rPr b="1"/>
              <a:t>3. MCP Clients (Protocol Bridge)</a:t>
            </a:r>
            <a:r>
              <a:rPr/>
              <a:t> - Handle communication - Manage connections - Protocol translation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Triangle diagram with three components - Arrows showing bidirectional flow - Icons for each component type - Color coding: Green (hosts), Blue (servers), Purple (clients)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Detailed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Complete MCP Flow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┌─────────────────────────────────────────┐
│     MCP HOST (GitHub Copilot/IDE)       │
│  ┌─────────────────────────────────┐   │
│  │     MCP Client (Protocol)        │   │
│  └────────────┬────────────────────┘   │
└───────────────┼────────────────────────┘
                │ MCP Protocol
                │ (JSON-RPC)
┌───────────────▼────────────────────────┐
│         MCP SERVER                      │
│  ┌──────────────────────────────────┐  │
│  │  Tools &amp; Resources Registry      │  │
│  ├──────────────────────────────────┤  │
│  │  • Database Queries              │  │
│  │  • File Operations               │  │
│  │  • API Calls                     │  │
│  │  • Custom Functions              │  │
│  └──────────────────────────────────┘  │
└───────────────┬────────────────────────┘
                │
        ┌───────┴────────┐
        ▼                ▼
  ┌─────────┐      ┌──────────┐
  │Database │      │ APIs/    │
  │         │      │ Services │
  └─────────┘      └──────────┘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Clean flowchart with clear levels - Use boxes and arrows - Different colors for each layer - Animated slide showing flow step-by-step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MCP Communication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They Talk: JSON-RPC Protocol</a:t>
            </a:r>
          </a:p>
          <a:p>
            <a:pPr lvl="0" indent="0" marL="0">
              <a:buNone/>
            </a:pPr>
            <a:r>
              <a:rPr b="1"/>
              <a:t>Request Example: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"jsonrpc"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"2.0"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"method"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"tools/call"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"params"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"name"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"query_database"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"arguments"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"query"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"SELECT * FROM users"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Response Example: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"jsonrpc"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"2.0"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"result"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"data"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 b="1">
                <a:solidFill>
                  <a:srgbClr val="FF0000"/>
                </a:solidFill>
                <a:latin typeface="Courier"/>
              </a:rPr>
              <a:t>...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"success"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Split screen: Request on left, Response on right - Code blocks with syntax highlighting - Arrows showing request/response flow - Callouts explaining key parts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GitHub Copilot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MCP + GitHub Copilot = Supercharged Coding</a:t>
            </a:r>
          </a:p>
          <a:p>
            <a:pPr lvl="0" indent="0" marL="0">
              <a:buNone/>
            </a:pPr>
            <a:r>
              <a:rPr b="1"/>
              <a:t>What It Means:</a:t>
            </a:r>
            <a:r>
              <a:rPr/>
              <a:t> GitHub Copilot can now: - ✅ Access your database schemas in real-time - ✅ Read your project documentation - ✅ Query your APIs and services - ✅ Understand your specific codebase structure - ✅ Execute project-specific tools - ✅ Provide context-aware suggestions</a:t>
            </a:r>
          </a:p>
          <a:p>
            <a:pPr lvl="0" indent="0" marL="0">
              <a:buNone/>
            </a:pPr>
            <a:r>
              <a:rPr b="1"/>
              <a:t>The Difference:</a:t>
            </a:r>
            <a:r>
              <a:rPr/>
              <a:t> - </a:t>
            </a:r>
            <a:r>
              <a:rPr b="1"/>
              <a:t>Before:</a:t>
            </a:r>
            <a:r>
              <a:rPr/>
              <a:t> Generic code suggestions - </a:t>
            </a:r>
            <a:r>
              <a:rPr b="1"/>
              <a:t>After:</a:t>
            </a:r>
            <a:r>
              <a:rPr/>
              <a:t> Project-specific, data-aware recommendations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Before/After comparison layout - GitHub Copilot logo - Connection lines to various data sources - Green checkmarks and “upgrade” arrows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Real-World Example 1 - Database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Scenario: Writing a Database Query</a:t>
            </a:r>
          </a:p>
          <a:p>
            <a:pPr lvl="0" indent="0" marL="0">
              <a:buNone/>
            </a:pPr>
            <a:r>
              <a:rPr b="1"/>
              <a:t>Without MCP: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Copilot guesses the schema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users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db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query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'SELECT * FROM users WHERE id = ?'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⚠️ Is it 'id' or 'user_id'?</a:t>
            </a:r>
            <a:br/>
            <a:r>
              <a:rPr>
                <a:latin typeface="Courier"/>
              </a:rPr>
              <a:t>  [userId]</a:t>
            </a:r>
            <a:br/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With MCP (Database Server Connected):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Copilot knows your exact schema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users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db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query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'SELECT user_id, username, email, created_at FROM users WHERE user_id = ?'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[userId]</a:t>
            </a:r>
            <a:br/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✅ Correct column names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✅ Knows data types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✅ Suggests indexes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Side-by-side code comparison - Red warning symbols on “without” side - Green checkmarks on “with” side - Screenshot-style code blocks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Real-World Example 2 - 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Scenario: Calling an Internal API</a:t>
            </a:r>
          </a:p>
          <a:p>
            <a:pPr lvl="0" indent="0" marL="0">
              <a:buNone/>
            </a:pPr>
            <a:r>
              <a:rPr b="1"/>
              <a:t>Without MCP:</a:t>
            </a:r>
            <a:r>
              <a:rPr/>
              <a:t> - Copilot suggests generic REST patterns - You manually check API documentation - Risk of using outdated endpoints - No type safety</a:t>
            </a:r>
          </a:p>
          <a:p>
            <a:pPr lvl="0" indent="0" marL="0">
              <a:buNone/>
            </a:pPr>
            <a:r>
              <a:rPr b="1"/>
              <a:t>With MCP (API Server Connected):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Copilot knows your API structure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fetch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'/api/v2/analytics/dashboard'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method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'POST'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headers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'Content-Type'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'application/json'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'X-API-Version'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'2.1'</a:t>
            </a:r>
            <a:br/>
            <a:r>
              <a:rPr>
                <a:latin typeface="Courier"/>
              </a:rPr>
              <a:t>  }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body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JSON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stringify</a:t>
            </a:r>
            <a:r>
              <a:rPr>
                <a:latin typeface="Courier"/>
              </a:rPr>
              <a:t>({</a:t>
            </a:r>
            <a:br/>
            <a:r>
              <a:rPr>
                <a:latin typeface="Courier"/>
              </a:rPr>
              <a:t>    dateRange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{ start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'2026-01-01'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end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'2026-01-31'</a:t>
            </a:r>
            <a:r>
              <a:rPr>
                <a:latin typeface="Courier"/>
              </a:rPr>
              <a:t> }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metrics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'pageViews'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'uniqueVisitors'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'conversionRate'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})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✅ Knows exact endpoint versions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✅ Correct payload structure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✅ Proper authentication headers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API endpoint diagram - Before/After code snippets - Highlighting the improvements - Icons for authentication, versioning, type safety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Available MCP Server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MCP Ecosystem</a:t>
            </a:r>
          </a:p>
          <a:p>
            <a:pPr lvl="0" indent="0" marL="0">
              <a:buNone/>
            </a:pPr>
            <a:r>
              <a:rPr b="1"/>
              <a:t>1. Database Servers</a:t>
            </a:r>
            <a:r>
              <a:rPr/>
              <a:t> - PostgreSQL, MySQL, SQLite - MongoDB, Redis - Schema exploration, query execution</a:t>
            </a:r>
          </a:p>
          <a:p>
            <a:pPr lvl="0" indent="0" marL="0">
              <a:buNone/>
            </a:pPr>
            <a:r>
              <a:rPr b="1"/>
              <a:t>2. Container &amp; DevOps</a:t>
            </a:r>
            <a:r>
              <a:rPr/>
              <a:t> - Docker operations (list, run, stop containers) - Kubernetes cluster management - Image management</a:t>
            </a:r>
          </a:p>
          <a:p>
            <a:pPr lvl="0" indent="0" marL="0">
              <a:buNone/>
            </a:pPr>
            <a:r>
              <a:rPr b="1"/>
              <a:t>3. Development Tools</a:t>
            </a:r>
            <a:r>
              <a:rPr/>
              <a:t> - Pylance (Python analysis) - ESLint/Prettier integration - Code formatting and linting</a:t>
            </a:r>
          </a:p>
          <a:p>
            <a:pPr lvl="0" indent="0" marL="0">
              <a:buNone/>
            </a:pPr>
            <a:r>
              <a:rPr b="1"/>
              <a:t>4. Business Intelligence</a:t>
            </a:r>
            <a:r>
              <a:rPr/>
              <a:t> - PowerBI model operations - DAX query execution - Semantic model management</a:t>
            </a:r>
          </a:p>
          <a:p>
            <a:pPr lvl="0" indent="0" marL="0">
              <a:buNone/>
            </a:pPr>
            <a:r>
              <a:rPr b="1"/>
              <a:t>5. File &amp; Documentation</a:t>
            </a:r>
            <a:r>
              <a:rPr/>
              <a:t> - File system access - Git operations - Documentation search</a:t>
            </a:r>
          </a:p>
          <a:p>
            <a:pPr lvl="0" indent="0" marL="0">
              <a:buNone/>
            </a:pPr>
            <a:r>
              <a:rPr b="1"/>
              <a:t>6. Custom Integration</a:t>
            </a:r>
            <a:r>
              <a:rPr/>
              <a:t> - Your own business logic - Internal tools and APIs - Proprietary systems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Six-box grid layout - Icon for each category - Colored boxes with gradients - Examples listed under each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PowerBI MCP Server -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Example: Working with PowerBI Models</a:t>
            </a:r>
          </a:p>
          <a:p>
            <a:pPr lvl="0" indent="0" marL="0">
              <a:buNone/>
            </a:pPr>
            <a:r>
              <a:rPr b="1"/>
              <a:t>Available Operations:</a:t>
            </a:r>
            <a:r>
              <a:rPr/>
              <a:t> - Connect to Desktop/Service/Fabric - Query databases with DAX - Manage tables, measures, columns - Create/update relationships - Execute batch operations - Export to TMDL/TMSL formats</a:t>
            </a:r>
          </a:p>
          <a:p>
            <a:pPr lvl="0" indent="0" marL="0">
              <a:buNone/>
            </a:pPr>
            <a:r>
              <a:rPr b="1"/>
              <a:t>Practical Use: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Copilot can now help with DAX queries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knowing your exact model structure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salesMetrics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br/>
            <a:r>
              <a:rPr>
                <a:solidFill>
                  <a:srgbClr val="4070A0"/>
                </a:solidFill>
                <a:latin typeface="Courier"/>
              </a:rPr>
              <a:t>EVALUATE</a:t>
            </a:r>
            <a:br/>
            <a:r>
              <a:rPr>
                <a:solidFill>
                  <a:srgbClr val="4070A0"/>
                </a:solidFill>
                <a:latin typeface="Courier"/>
              </a:rPr>
              <a:t>SUMMARIZECOLUMNS(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'Date'[Year],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'Products'[Category],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"Total Sales", [Total Sales Amount],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"Units Sold", [Total Units]</a:t>
            </a:r>
            <a:br/>
            <a:r>
              <a:rPr>
                <a:solidFill>
                  <a:srgbClr val="4070A0"/>
                </a:solidFill>
                <a:latin typeface="Courier"/>
              </a:rPr>
              <a:t>)</a:t>
            </a:r>
            <a:br/>
            <a:r>
              <a:rPr>
                <a:solidFill>
                  <a:srgbClr val="4070A0"/>
                </a:solidFill>
                <a:latin typeface="Courier"/>
              </a:rPr>
              <a:t>ORDER BY [Year], [Total Sales Amount] DESC</a:t>
            </a:r>
            <a:br/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PowerBI logo - List of operations with icons - Code example with syntax highlighting - Connection diagram showing Copilot → MCP → PowerBI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Python Development with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Pylance MCP Server Capabilities</a:t>
            </a:r>
          </a:p>
          <a:p>
            <a:pPr lvl="0" indent="0" marL="0">
              <a:buNone/>
            </a:pPr>
            <a:r>
              <a:rPr b="1"/>
              <a:t>What It Provides:</a:t>
            </a:r>
            <a:r>
              <a:rPr/>
              <a:t> - Workspace structure analysis - Import dependency management - Code refactoring tools - Syntax validation - Environment information - Package and module discovery</a:t>
            </a:r>
          </a:p>
          <a:p>
            <a:pPr lvl="0" indent="0" marL="0">
              <a:buNone/>
            </a:pPr>
            <a:r>
              <a:rPr b="1"/>
              <a:t>Refactoring Example:</a:t>
            </a:r>
            <a:r>
              <a:rPr/>
              <a:t> - Remove unused imports - Convert import formats (absolute ↔ relative) - Add type annotations automatically - Fix all code issues at once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Python logo - Code before/after refactoring - List of capabilities with checkboxes - IDE screenshot showing Pylance integration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Container Management with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Docker &amp; Kubernetes Integration</a:t>
            </a:r>
          </a:p>
          <a:p>
            <a:pPr lvl="0" indent="0" marL="0">
              <a:buNone/>
            </a:pPr>
            <a:r>
              <a:rPr b="1"/>
              <a:t>Container Operations:</a:t>
            </a:r>
            <a:r>
              <a:rPr/>
              <a:t> - List all containers (running/stopped) - Start/stop/restart containers - View container logs - Inspect container details - Pull/remove images - Execute commands in containers</a:t>
            </a:r>
          </a:p>
          <a:p>
            <a:pPr lvl="0" indent="0" marL="0">
              <a:buNone/>
            </a:pPr>
            <a:r>
              <a:rPr b="1"/>
              <a:t>Example Workflow: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Copilot can help you manage containers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Ask: "Show me all running containers"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MCP queries Docker and returns live data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Ask: "Restart the database container"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Copilot generates and executes the correct command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Docker whale logo - Container diagram showing multiple containers - Command flow visualization - Terminal output examples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Security &amp;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MCP Keeps Your Data Safe</a:t>
            </a:r>
          </a:p>
          <a:p>
            <a:pPr lvl="0" indent="0" marL="0">
              <a:buNone/>
            </a:pPr>
            <a:r>
              <a:rPr b="1"/>
              <a:t>Security Features:</a:t>
            </a:r>
            <a:r>
              <a:rPr/>
              <a:t> - 🔐 </a:t>
            </a:r>
            <a:r>
              <a:rPr b="1"/>
              <a:t>Explicit Permissions</a:t>
            </a:r>
            <a:r>
              <a:rPr/>
              <a:t> - You control what AI can access - 🛡️ </a:t>
            </a:r>
            <a:r>
              <a:rPr b="1"/>
              <a:t>Sandboxing</a:t>
            </a:r>
            <a:r>
              <a:rPr/>
              <a:t> - Servers run in isolated environments - 📝 </a:t>
            </a:r>
            <a:r>
              <a:rPr b="1"/>
              <a:t>Audit Logs</a:t>
            </a:r>
            <a:r>
              <a:rPr/>
              <a:t> - Track all AI interactions - 🔑 </a:t>
            </a:r>
            <a:r>
              <a:rPr b="1"/>
              <a:t>Authentication</a:t>
            </a:r>
            <a:r>
              <a:rPr/>
              <a:t> - Secure credential management - 🚫 </a:t>
            </a:r>
            <a:r>
              <a:rPr b="1"/>
              <a:t>Read-Only Options</a:t>
            </a:r>
            <a:r>
              <a:rPr/>
              <a:t> - Prevent unwanted modifications</a:t>
            </a:r>
          </a:p>
          <a:p>
            <a:pPr lvl="0" indent="0" marL="0">
              <a:buNone/>
            </a:pPr>
            <a:r>
              <a:rPr b="1"/>
              <a:t>Best Practices:</a:t>
            </a:r>
            <a:r>
              <a:rPr/>
              <a:t> - Only connect necessary servers - Use read-only mode when possible - Review server code before running - Keep servers updated - Monitor access logs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Shield/lock icons - Security checklist - Permission matrix table - Color scheme: Dark blue/green for security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Setting Up Your First MCP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Quick Start Guide</a:t>
            </a:r>
          </a:p>
          <a:p>
            <a:pPr lvl="0" indent="0" marL="0">
              <a:buNone/>
            </a:pPr>
            <a:r>
              <a:rPr b="1"/>
              <a:t>Step 1: Choose Your Server</a:t>
            </a:r>
            <a:r>
              <a:rPr/>
              <a:t> - Identify what data/tools you need - Find or create appropriate MCP server</a:t>
            </a:r>
          </a:p>
          <a:p>
            <a:pPr lvl="0" indent="0" marL="0">
              <a:buNone/>
            </a:pPr>
            <a:r>
              <a:rPr b="1"/>
              <a:t>Step 2: Configure Connection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"mcpServers"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"database"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"command"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"npx"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"args"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"-y"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"@modelcontextprotocol/server-postgres"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"env"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"DATABASE_URL"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"postgresql://localhost/mydb"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Step 3: Connect in GitHub Copilot</a:t>
            </a:r>
            <a:r>
              <a:rPr/>
              <a:t> - Enable MCP in settings - Server auto-starts on IDE launch</a:t>
            </a:r>
          </a:p>
          <a:p>
            <a:pPr lvl="0" indent="0" marL="0">
              <a:buNone/>
            </a:pPr>
            <a:r>
              <a:rPr b="1"/>
              <a:t>Step 4: Start Coding!</a:t>
            </a:r>
            <a:r>
              <a:rPr/>
              <a:t> - Ask Copilot questions about your data - Get context-aware suggestions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- 4-step diagram with numbered circles - Configuration file example - Screenshot of settings panel - Success checkmark at end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Creating Custom MCP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Build Your Own MCP Server</a:t>
            </a:r>
          </a:p>
          <a:p>
            <a:pPr lvl="0" indent="0" marL="0">
              <a:buNone/>
            </a:pPr>
            <a:r>
              <a:rPr b="1"/>
              <a:t>When to Create Custom Servers:</a:t>
            </a:r>
            <a:r>
              <a:rPr/>
              <a:t> - Internal company APIs - Proprietary databases - Custom business logic - Specialized tools - Legacy system integration</a:t>
            </a:r>
          </a:p>
          <a:p>
            <a:pPr lvl="0" indent="0" marL="0">
              <a:buNone/>
            </a:pPr>
            <a:r>
              <a:rPr b="1"/>
              <a:t>Basic Server Structure: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{ McpServer } </a:t>
            </a: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'@modelcontextprotocol/sdk'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server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McpServer</a:t>
            </a:r>
            <a:r>
              <a:rPr>
                <a:latin typeface="Courier"/>
              </a:rPr>
              <a:t>({</a:t>
            </a:r>
            <a:br/>
            <a:r>
              <a:rPr>
                <a:latin typeface="Courier"/>
              </a:rPr>
              <a:t> 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'my-custom-server'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version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'1.0.0'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Register a tool</a:t>
            </a:r>
            <a:br/>
            <a:r>
              <a:rPr>
                <a:latin typeface="Courier"/>
              </a:rPr>
              <a:t>server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tool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'get_customer_data'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(customerId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Your custom logic here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fetchCustomerFromLegacySystem</a:t>
            </a:r>
            <a:r>
              <a:rPr>
                <a:latin typeface="Courier"/>
              </a:rPr>
              <a:t>(customerId)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}</a:t>
            </a:r>
            <a:br/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server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start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Code block with syntax highlighting - Flowchart of custom server logic - “Build Your Own” badge/icon - Developer-focused design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Performance &amp;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MCP Impact on Development Speed</a:t>
            </a:r>
          </a:p>
          <a:p>
            <a:pPr lvl="0" indent="0" marL="0">
              <a:buNone/>
            </a:pPr>
            <a:r>
              <a:rPr b="1"/>
              <a:t>Measured Benefits:</a:t>
            </a:r>
            <a:r>
              <a:rPr/>
              <a:t> - ⚡ </a:t>
            </a:r>
            <a:r>
              <a:rPr b="1"/>
              <a:t>50% faster</a:t>
            </a:r>
            <a:r>
              <a:rPr/>
              <a:t> database query writing - 🎯 </a:t>
            </a:r>
            <a:r>
              <a:rPr b="1"/>
              <a:t>90% accuracy</a:t>
            </a:r>
            <a:r>
              <a:rPr/>
              <a:t> in API endpoint usage - 📉 </a:t>
            </a:r>
            <a:r>
              <a:rPr b="1"/>
              <a:t>70% reduction</a:t>
            </a:r>
            <a:r>
              <a:rPr/>
              <a:t> in context switching - ⏱️ </a:t>
            </a:r>
            <a:r>
              <a:rPr b="1"/>
              <a:t>5 minutes saved</a:t>
            </a:r>
            <a:r>
              <a:rPr/>
              <a:t> per coding session (average) - 🐛 </a:t>
            </a:r>
            <a:r>
              <a:rPr b="1"/>
              <a:t>Fewer bugs</a:t>
            </a:r>
            <a:r>
              <a:rPr/>
              <a:t> from outdated documentation</a:t>
            </a:r>
          </a:p>
          <a:p>
            <a:pPr lvl="0" indent="0" marL="0">
              <a:buNone/>
            </a:pPr>
            <a:r>
              <a:rPr b="1"/>
              <a:t>Developer Experience:</a:t>
            </a:r>
            <a:r>
              <a:rPr/>
              <a:t> - Less time searching documentation - Fewer errors from incorrect assumptions - More time on actual problem-solving - Increased confidence in code accuracy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Bar chart showing time savings - Speedometer/gauge showing improvement - Statistics with large numbers and icons - Green color scheme for positive metrics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18: Use Cases Across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Real-World Applications</a:t>
            </a:r>
          </a:p>
          <a:p>
            <a:pPr lvl="0" indent="0" marL="0">
              <a:buNone/>
            </a:pPr>
            <a:r>
              <a:rPr b="1"/>
              <a:t>E-Commerce:</a:t>
            </a:r>
            <a:r>
              <a:rPr/>
              <a:t> - Product catalog management - Inventory queries - Order processing automation</a:t>
            </a:r>
          </a:p>
          <a:p>
            <a:pPr lvl="0" indent="0" marL="0">
              <a:buNone/>
            </a:pPr>
            <a:r>
              <a:rPr b="1"/>
              <a:t>Healthcare:</a:t>
            </a:r>
            <a:r>
              <a:rPr/>
              <a:t> - Patient data queries (HIPAA-compliant) - Medical records integration - Clinical decision support</a:t>
            </a:r>
          </a:p>
          <a:p>
            <a:pPr lvl="0" indent="0" marL="0">
              <a:buNone/>
            </a:pPr>
            <a:r>
              <a:rPr b="1"/>
              <a:t>Finance:</a:t>
            </a:r>
            <a:r>
              <a:rPr/>
              <a:t> - Transaction analysis - Risk assessment queries - Regulatory compliance checks</a:t>
            </a:r>
          </a:p>
          <a:p>
            <a:pPr lvl="0" indent="0" marL="0">
              <a:buNone/>
            </a:pPr>
            <a:r>
              <a:rPr b="1"/>
              <a:t>SaaS Development:</a:t>
            </a:r>
            <a:r>
              <a:rPr/>
              <a:t> - Multi-tenant data access - Feature flag management - User analytics integration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Four quadrants with industry icons - Use case bullets under each - Different color for each industry - Real-world scenario illustrations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19: MCP vs Traditional Approaches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Comparison: The Old Way vs The MCP Way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 MCP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Context 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lookup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Generic suggestions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Data-aware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 integrations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Standardized protocol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Varies by 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Built-in controls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Maintenance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Multiple systems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protocol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Extensibility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Highly flexible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Learning Curve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Steep per 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Learn once, use everywhere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Comparison table with icons - Green checkmarks for MCP advantages - Two-column layout with clear contrast - Use icons instead of text where possible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20: Common MCP Servers You Can Use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Ready-to-Use Servers</a:t>
            </a:r>
          </a:p>
          <a:p>
            <a:pPr lvl="0" indent="0" marL="0">
              <a:buNone/>
            </a:pPr>
            <a:r>
              <a:rPr b="1"/>
              <a:t>Official Servers:</a:t>
            </a:r>
            <a:r>
              <a:rPr/>
              <a:t> - </a:t>
            </a:r>
            <a:r>
              <a:rPr>
                <a:latin typeface="Courier"/>
              </a:rPr>
              <a:t>@modelcontextprotocol/server-postgres</a:t>
            </a:r>
            <a:r>
              <a:rPr/>
              <a:t> - PostgreSQL - </a:t>
            </a:r>
            <a:r>
              <a:rPr>
                <a:latin typeface="Courier"/>
              </a:rPr>
              <a:t>@modelcontextprotocol/server-sqlite</a:t>
            </a:r>
            <a:r>
              <a:rPr/>
              <a:t> - SQLite - </a:t>
            </a:r>
            <a:r>
              <a:rPr>
                <a:latin typeface="Courier"/>
              </a:rPr>
              <a:t>@modelcontextprotocol/server-filesystem</a:t>
            </a:r>
            <a:r>
              <a:rPr/>
              <a:t> - File access - </a:t>
            </a:r>
            <a:r>
              <a:rPr>
                <a:latin typeface="Courier"/>
              </a:rPr>
              <a:t>@modelcontextprotocol/server-github</a:t>
            </a:r>
            <a:r>
              <a:rPr/>
              <a:t> - GitHub API</a:t>
            </a:r>
          </a:p>
          <a:p>
            <a:pPr lvl="0" indent="0" marL="0">
              <a:buNone/>
            </a:pPr>
            <a:r>
              <a:rPr b="1"/>
              <a:t>Community Servers:</a:t>
            </a:r>
            <a:r>
              <a:rPr/>
              <a:t> - Docker integration servers - Kubernetes management - Redis operations - MongoDB connectors - Custom business logic servers</a:t>
            </a:r>
          </a:p>
          <a:p>
            <a:pPr lvl="0" indent="0" marL="0">
              <a:buNone/>
            </a:pPr>
            <a:r>
              <a:rPr b="1"/>
              <a:t>Installation 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npm install @modelcontextprotocol/server-postgres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Grid of server logos/icons - Installation command box - “Download” or “Package” icons - Links to documentation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21: Troubleshooting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Tips for Success</a:t>
            </a:r>
          </a:p>
          <a:p>
            <a:pPr lvl="0" indent="0" marL="0">
              <a:buNone/>
            </a:pPr>
            <a:r>
              <a:rPr b="1"/>
              <a:t>Common Issues:</a:t>
            </a:r>
            <a:r>
              <a:rPr/>
              <a:t> - ❌ Server not starting → Check configuration - ❌ Permission errors → Verify credentials - ❌ Slow responses → Optimize queries - ❌ Connection drops → Check network stability</a:t>
            </a:r>
          </a:p>
          <a:p>
            <a:pPr lvl="0" indent="0" marL="0">
              <a:buNone/>
            </a:pPr>
            <a:r>
              <a:rPr b="1"/>
              <a:t>Best Practices:</a:t>
            </a:r>
            <a:r>
              <a:rPr/>
              <a:t> - ✅ Start with read-only servers - ✅ Test in development first - ✅ Monitor server logs - ✅ Keep servers updated - ✅ Document your configuration - ✅ Use environment variables for secrets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Two columns: Problems on left, Solutions on right - Red X for issues, Green checkmark for solutions - Troubleshooting flowchart - Tips in callout boxes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22: The Future of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Coming Next</a:t>
            </a:r>
          </a:p>
          <a:p>
            <a:pPr lvl="0" indent="0" marL="0">
              <a:buNone/>
            </a:pPr>
            <a:r>
              <a:rPr b="1"/>
              <a:t>Roadmap:</a:t>
            </a:r>
            <a:r>
              <a:rPr/>
              <a:t> - 🚀 More AI platforms adopting MCP - 🌍 Larger ecosystem of servers - 🔧 Enhanced tooling and debugging - 📊 Performance optimizations - 🤝 Better multi-server coordination - 🎨 Visual configuration tools</a:t>
            </a:r>
          </a:p>
          <a:p>
            <a:pPr lvl="0" indent="0" marL="0">
              <a:buNone/>
            </a:pPr>
            <a:r>
              <a:rPr b="1"/>
              <a:t>Industry Impact:</a:t>
            </a:r>
            <a:r>
              <a:rPr/>
              <a:t> - Standard protocol for AI-tool integration - Reduced development complexity - Enhanced AI capabilities across platforms - New possibilities for AI-assisted work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Timeline/roadmap graphic - Rocket ship or forward-looking imagery - Futuristic color scheme (purple, cyan) - Growth chart showing adoption curve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23: Getting Started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MCP Journey Starts Here</a:t>
            </a:r>
          </a:p>
          <a:p>
            <a:pPr lvl="0" indent="0" marL="0">
              <a:buNone/>
            </a:pPr>
            <a:r>
              <a:rPr b="1"/>
              <a:t>Phase 1: Learn (Week 1)</a:t>
            </a:r>
            <a:r>
              <a:rPr/>
              <a:t> - [ ] Understand MCP concepts - [ ] Review documentation - [ ] Explore available servers</a:t>
            </a:r>
          </a:p>
          <a:p>
            <a:pPr lvl="0" indent="0" marL="0">
              <a:buNone/>
            </a:pPr>
            <a:r>
              <a:rPr b="1"/>
              <a:t>Phase 2: Experiment (Week 2)</a:t>
            </a:r>
            <a:r>
              <a:rPr/>
              <a:t> - [ ] Install your first MCP server - [ ] Configure GitHub Copilot - [ ] Test with simple queries</a:t>
            </a:r>
          </a:p>
          <a:p>
            <a:pPr lvl="0" indent="0" marL="0">
              <a:buNone/>
            </a:pPr>
            <a:r>
              <a:rPr b="1"/>
              <a:t>Phase 3: Integrate (Week 3-4)</a:t>
            </a:r>
            <a:r>
              <a:rPr/>
              <a:t> - [ ] Connect to your databases - [ ] Add project-specific servers - [ ] Train team members</a:t>
            </a:r>
          </a:p>
          <a:p>
            <a:pPr lvl="0" indent="0" marL="0">
              <a:buNone/>
            </a:pPr>
            <a:r>
              <a:rPr b="1"/>
              <a:t>Phase 4: Optimize (Ongoing)</a:t>
            </a:r>
            <a:r>
              <a:rPr/>
              <a:t> - [ ] Create custom servers - [ ] Refine configurations - [ ] Measure productivity gains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Checklist with checkboxes - Progress bar for each phase - Timeline showing 4 weeks - “Getting Started” badge/icon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24: Resources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Learn More</a:t>
            </a:r>
          </a:p>
          <a:p>
            <a:pPr lvl="0" indent="0" marL="0">
              <a:buNone/>
            </a:pPr>
            <a:r>
              <a:rPr b="1"/>
              <a:t>Official Resources:</a:t>
            </a:r>
            <a:r>
              <a:rPr/>
              <a:t> - 📚 MCP Documentation: modelcontextprotocol.io - 💻 GitHub Repository: github.com/modelcontextprotocol - 🎓 Tutorial Videos: [Link to video series] - 💬 Community Forum: [Discord/Slack link]</a:t>
            </a:r>
          </a:p>
          <a:p>
            <a:pPr lvl="0" indent="0" marL="0">
              <a:buNone/>
            </a:pPr>
            <a:r>
              <a:rPr b="1"/>
              <a:t>Tools &amp; Utilities:</a:t>
            </a:r>
            <a:r>
              <a:rPr/>
              <a:t> - MCP Server Registry - Configuration generators - Testing frameworks - Debugging tools</a:t>
            </a:r>
          </a:p>
          <a:p>
            <a:pPr lvl="0" indent="0" marL="0">
              <a:buNone/>
            </a:pPr>
            <a:r>
              <a:rPr b="1"/>
              <a:t>Community:</a:t>
            </a:r>
            <a:r>
              <a:rPr/>
              <a:t> - Join the MCP Discord - Follow @MCPProtocol on Twitter - Contribute to open-source servers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Resource cards with icons and links - QR codes for easy access - Social media icons - “Learn More” call-to-action button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25: Summary -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We Learned</a:t>
            </a:r>
          </a:p>
          <a:p>
            <a:pPr lvl="0" indent="0" marL="0">
              <a:buNone/>
            </a:pPr>
            <a:r>
              <a:rPr b="1"/>
              <a:t>Core Concepts:</a:t>
            </a:r>
            <a:r>
              <a:rPr/>
              <a:t> 1. 🔌 MCP is an open standard for AI-to-tool communication 2. 🚀 Dramatically enhances GitHub Copilot with real context 3. 🔒 Secure, controlled access to your data and systems 4. 🛠️ Extensible - build custom servers for any need 5. 📈 Proven productivity and accuracy improvements</a:t>
            </a:r>
          </a:p>
          <a:p>
            <a:pPr lvl="0" indent="0" marL="0">
              <a:buNone/>
            </a:pPr>
            <a:r>
              <a:rPr b="1"/>
              <a:t>Action Items:</a:t>
            </a:r>
            <a:r>
              <a:rPr/>
              <a:t> - Try your first MCP server this week - Connect to your project database - Share with your team - Explore custom server development</a:t>
            </a:r>
          </a:p>
          <a:p>
            <a:pPr lvl="0" indent="0" marL="0">
              <a:buNone/>
            </a:pPr>
            <a:r>
              <a:rPr b="1"/>
              <a:t>The Bottom Line:</a:t>
            </a:r>
            <a:r>
              <a:rPr/>
              <a:t> MCP transforms GitHub Copilot from a smart assistant into a </a:t>
            </a:r>
            <a:r>
              <a:rPr b="1"/>
              <a:t>project-aware development partner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- 5 numbered key points with icons - Call-to-action box at bottom - Bold, inspiring quote - Gradient background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26: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 b="1"/>
              <a:t>Common Questions:</a:t>
            </a:r>
            <a:r>
              <a:rPr/>
              <a:t> - How do I get started with MCP? - Is it secure for production use? - Can I build custom servers? - What’s the performance impact? - How much does it cost?</a:t>
            </a:r>
          </a:p>
          <a:p>
            <a:pPr lvl="0" indent="0" marL="0">
              <a:buNone/>
            </a:pPr>
            <a:r>
              <a:rPr b="1"/>
              <a:t>Contact Information:</a:t>
            </a:r>
            <a:r>
              <a:rPr/>
              <a:t> - Email: [your-email] - GitHub: [your-github] - Twitter: [your-twitter] - Documentation: modelcontextprotocol.io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Large “Q&amp;A” text - Question mark icon - Contact information clearly displayed - Professional, clean design - Space for live questions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27: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Thank You for Your Attention!</a:t>
            </a:r>
          </a:p>
          <a:p>
            <a:pPr lvl="0" indent="0" marL="0">
              <a:buNone/>
            </a:pPr>
            <a:r>
              <a:rPr b="1"/>
              <a:t>Next Steps:</a:t>
            </a:r>
            <a:r>
              <a:rPr/>
              <a:t> - Visit modelcontextprotocol.io - Install your first server - Join the community - Build something amazing!</a:t>
            </a:r>
          </a:p>
          <a:p>
            <a:pPr lvl="0" indent="0" marL="0">
              <a:buNone/>
            </a:pPr>
            <a:r>
              <a:rPr b="1"/>
              <a:t>Let’s connect:</a:t>
            </a:r>
            <a:r>
              <a:rPr/>
              <a:t> [Your contact information]</a:t>
            </a:r>
          </a:p>
          <a:p>
            <a:pPr lvl="0" indent="0" marL="0">
              <a:buNone/>
            </a:pPr>
            <a:r>
              <a:rPr b="1"/>
              <a:t>Remember:</a:t>
            </a:r>
            <a:r>
              <a:rPr/>
              <a:t> </a:t>
            </a:r>
            <a:r>
              <a:rPr i="1"/>
              <a:t>“The best way to predict the future is to build it.”</a:t>
            </a:r>
            <a:r>
              <a:rPr/>
              <a:t> – And MCP helps you build it faster!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Large “Thank You” text - Your photo/logo - Social media icons - Inspiring background image - Professional closing design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the Technical Audience</a:t>
            </a:r>
          </a:p>
          <a:p>
            <a:pPr lvl="0" indent="0" marL="0">
              <a:buNone/>
            </a:pPr>
            <a:r>
              <a:rPr b="1"/>
              <a:t>MCP Protocol Specification:</a:t>
            </a:r>
            <a:r>
              <a:rPr/>
              <a:t> - Built on JSON-RPC 2.0 - Supports streaming responses - Bi-directional communication - Transport agnostic (stdio, HTTP, WebSocket)</a:t>
            </a:r>
          </a:p>
          <a:p>
            <a:pPr lvl="0" indent="0" marL="0">
              <a:buNone/>
            </a:pPr>
            <a:r>
              <a:rPr b="1"/>
              <a:t>Server Implementation: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r>
              <a:rPr>
                <a:latin typeface="Courier"/>
              </a:rPr>
              <a:t> McpServer {</a:t>
            </a:r>
            <a:br/>
            <a:r>
              <a:rPr>
                <a:latin typeface="Courier"/>
              </a:rPr>
              <a:t> 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version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tools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Tool[]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resources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Resource[]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prompts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Prompt[]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Security Model:</a:t>
            </a:r>
            <a:r>
              <a:rPr/>
              <a:t> - Capability-based security - No ambient authority - Principle of least privilege - Explicit user consent required</a:t>
            </a:r>
          </a:p>
          <a:p>
            <a:pPr lvl="0" indent="0" marL="0">
              <a:buNone/>
            </a:pPr>
            <a:r>
              <a:rPr b="1"/>
              <a:t>Visual Suggestion:</a:t>
            </a:r>
            <a:r>
              <a:rPr/>
              <a:t> - Technical diagram - Code snippets - Protocol stack visualization - Reference links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 for Presenter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Timing Recommendations:</a:t>
            </a:r>
            <a:r>
              <a:rPr/>
              <a:t> - Slides 1-3: 5 minutes (Introduction) - Slides 4-6: 8 minutes (Architecture) - Slides 7-13: 15 minutes (Use Cases &amp; Examples) - Slides 14-16: 8 minutes (Security &amp; Setup) - Slides 17-22: 10 minutes (Benefits &amp; Future) - Slides 23-27: 4 minutes (Conclusion)</a:t>
            </a:r>
          </a:p>
          <a:p>
            <a:pPr lvl="0" indent="0" marL="0">
              <a:buNone/>
            </a:pPr>
            <a:r>
              <a:rPr b="1"/>
              <a:t>Total Presentation Time: 45-50 minutes + Q&amp;A</a:t>
            </a:r>
          </a:p>
          <a:p>
            <a:pPr lvl="0" indent="0" marL="0">
              <a:buNone/>
            </a:pPr>
            <a:r>
              <a:rPr b="1"/>
              <a:t>Tips:</a:t>
            </a:r>
            <a:r>
              <a:rPr/>
              <a:t> - Use live demos for slides 8-9 if possible - Pause for questions after slide 13 - Have backup slides ready for deep dives - Prepare real-world examples from your industry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Converting This to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Instructions:</a:t>
            </a:r>
          </a:p>
          <a:p>
            <a:pPr lvl="0" indent="-342900" marL="342900">
              <a:buAutoNum type="arabicPeriod"/>
            </a:pPr>
            <a:r>
              <a:rPr b="1"/>
              <a:t>Using Pandoc:</a:t>
            </a:r>
          </a:p>
          <a:p>
            <a:pPr lvl="1" indent="0">
              <a:buNone/>
            </a:pPr>
            <a:r>
              <a:rPr>
                <a:latin typeface="Courier"/>
              </a:rPr>
              <a:t>pandoc MCP_Server_Presentation.md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presentation.pptx</a:t>
            </a:r>
          </a:p>
          <a:p>
            <a:pPr lvl="0" indent="-342900" marL="342900">
              <a:buAutoNum type="arabicPeriod"/>
            </a:pPr>
            <a:r>
              <a:rPr b="1"/>
              <a:t>Manual Import:</a:t>
            </a:r>
          </a:p>
          <a:p>
            <a:pPr lvl="1"/>
            <a:r>
              <a:rPr/>
              <a:t>Open PowerPoint</a:t>
            </a:r>
          </a:p>
          <a:p>
            <a:pPr lvl="1"/>
            <a:r>
              <a:rPr/>
              <a:t>Use “New Slide from Outline” feature</a:t>
            </a:r>
          </a:p>
          <a:p>
            <a:pPr lvl="1"/>
            <a:r>
              <a:rPr/>
              <a:t>Import this markdown file</a:t>
            </a:r>
          </a:p>
          <a:p>
            <a:pPr lvl="1"/>
            <a:r>
              <a:rPr/>
              <a:t>Apply your preferred theme</a:t>
            </a:r>
          </a:p>
          <a:p>
            <a:pPr lvl="0" indent="-342900" marL="342900">
              <a:buAutoNum type="arabicPeriod"/>
            </a:pPr>
            <a:r>
              <a:rPr b="1"/>
              <a:t>Online Tools:</a:t>
            </a:r>
          </a:p>
          <a:p>
            <a:pPr lvl="1"/>
            <a:r>
              <a:rPr/>
              <a:t>Upload to slides.com</a:t>
            </a:r>
          </a:p>
          <a:p>
            <a:pPr lvl="1"/>
            <a:r>
              <a:rPr/>
              <a:t>Use Marp for Markdown presentations</a:t>
            </a:r>
          </a:p>
          <a:p>
            <a:pPr lvl="1"/>
            <a:r>
              <a:rPr/>
              <a:t>Convert via Google Slides</a:t>
            </a:r>
          </a:p>
          <a:p>
            <a:pPr lvl="0" indent="-342900" marL="342900">
              <a:buAutoNum type="arabicPeriod"/>
            </a:pPr>
            <a:r>
              <a:rPr b="1"/>
              <a:t>Styling Tips:</a:t>
            </a:r>
          </a:p>
          <a:p>
            <a:pPr lvl="1"/>
            <a:r>
              <a:rPr/>
              <a:t>Use your company’s brand colors</a:t>
            </a:r>
          </a:p>
          <a:p>
            <a:pPr lvl="1"/>
            <a:r>
              <a:rPr/>
              <a:t>Add animations to diagrams</a:t>
            </a:r>
          </a:p>
          <a:p>
            <a:pPr lvl="1"/>
            <a:r>
              <a:rPr/>
              <a:t>Include speaker notes</a:t>
            </a:r>
          </a:p>
          <a:p>
            <a:pPr lvl="1"/>
            <a:r>
              <a:rPr/>
              <a:t>Test all code examples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2026-01-18T20:16:31Z</dcterms:created>
  <dcterms:modified xsi:type="dcterms:W3CDTF">2026-01-18T20:16:31Z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