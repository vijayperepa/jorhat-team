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1" y="2988"/>
            <a:ext cx="7329573" cy="51435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1796" y="1323305"/>
            <a:ext cx="4320635" cy="17327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ctr" defTabSz="914400">
              <a:lnSpc>
                <a:spcPct val="90000"/>
              </a:lnSpc>
            </a:pPr>
            <a:r>
              <a:rPr lang="en-US" sz="39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Prompt Engineering Essentials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8611" y="1503851"/>
            <a:ext cx="4086547" cy="179093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Getting Better Results from GitHub Copilot &amp; LLMs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32502"/>
            <a:ext cx="3872284" cy="199310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6125"/>
            <a:ext cx="3625552" cy="1866112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7342" y="86275"/>
            <a:ext cx="3370003" cy="840656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IN" sz="2700" dirty="0">
                <a:solidFill>
                  <a:schemeClr val="tx2"/>
                </a:solidFill>
              </a:rPr>
              <a:t> 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15" y="1961946"/>
            <a:ext cx="7973333" cy="1823148"/>
          </a:xfrm>
        </p:spPr>
        <p:txBody>
          <a:bodyPr anchor="t">
            <a:normAutofit/>
          </a:bodyPr>
          <a:lstStyle/>
          <a:p>
            <a:pPr marL="0" lvl="0" indent="0">
              <a:buNone/>
            </a:pPr>
            <a:r>
              <a:rPr lang="en-US" sz="1500" dirty="0">
                <a:solidFill>
                  <a:schemeClr val="tx2"/>
                </a:solidFill>
                <a:latin typeface="+mj-lt"/>
              </a:rPr>
              <a:t>By the end of this session, you will: - Understand how Large Language Models (LLMs) work - Learn the fundamentals of prompt engineering - Apply best practices to get better results from GitHub Copilot - Avoid common pitfalls when crafting prompts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6125"/>
            <a:ext cx="3625552" cy="1866112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90" y="46031"/>
            <a:ext cx="5012060" cy="111559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What are Large Language Models (LLMs)?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09" y="1744421"/>
            <a:ext cx="7934565" cy="1823148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+mj-lt"/>
              </a:rPr>
              <a:t>Definition:</a:t>
            </a:r>
            <a:r>
              <a:rPr lang="en-US" sz="1400" dirty="0">
                <a:solidFill>
                  <a:schemeClr val="tx2"/>
                </a:solidFill>
                <a:latin typeface="+mj-lt"/>
              </a:rPr>
              <a:t> - AI trained on large amounts of text data - Understands and generates human-like language - Works by predicting the next word based on context - Think of it as </a:t>
            </a:r>
            <a:r>
              <a:rPr lang="en-US" sz="1400" b="1" dirty="0">
                <a:solidFill>
                  <a:schemeClr val="tx2"/>
                </a:solidFill>
                <a:latin typeface="+mj-lt"/>
              </a:rPr>
              <a:t>“ultra-smart autocomplete”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+mj-lt"/>
              </a:rPr>
              <a:t>Popular Examples:</a:t>
            </a:r>
            <a:r>
              <a:rPr lang="en-US" sz="1400" dirty="0">
                <a:solidFill>
                  <a:schemeClr val="tx2"/>
                </a:solidFill>
                <a:latin typeface="+mj-lt"/>
              </a:rPr>
              <a:t> - OpenAI’s GPT - </a:t>
            </a:r>
            <a:r>
              <a:rPr lang="en-US" sz="1400" dirty="0" err="1">
                <a:solidFill>
                  <a:schemeClr val="tx2"/>
                </a:solidFill>
                <a:latin typeface="+mj-lt"/>
              </a:rPr>
              <a:t>Anthropic’s</a:t>
            </a:r>
            <a:r>
              <a:rPr lang="en-US" sz="1400" dirty="0">
                <a:solidFill>
                  <a:schemeClr val="tx2"/>
                </a:solidFill>
                <a:latin typeface="+mj-lt"/>
              </a:rPr>
              <a:t> Claude - Google’s Gemini - GitHub Copilot (powered by OpenAI)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6125"/>
            <a:ext cx="3625552" cy="1866112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7457" y="5800"/>
            <a:ext cx="4316022" cy="137801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Three Key Concepts to Understand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844" y="1284181"/>
            <a:ext cx="6427092" cy="3610827"/>
          </a:xfrm>
        </p:spPr>
        <p:txBody>
          <a:bodyPr anchor="t">
            <a:normAutofit fontScale="92500" lnSpcReduction="20000"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600" b="1" dirty="0">
                <a:solidFill>
                  <a:schemeClr val="tx2"/>
                </a:solidFill>
              </a:rPr>
              <a:t>1. Context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Surrounding information that helps the LLM understand your request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More context = better understanding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Just like conversations with friends!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600" b="1" dirty="0">
                <a:solidFill>
                  <a:schemeClr val="tx2"/>
                </a:solidFill>
              </a:rPr>
              <a:t>2. Tokens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Units of text (word, part of word, or single letter)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AI processes tokens to generate responses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Balance is key: too few lacks context, too many overwhelms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600" b="1" dirty="0">
                <a:solidFill>
                  <a:schemeClr val="tx2"/>
                </a:solidFill>
              </a:rPr>
              <a:t>3. Limitations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LLMs don’t truly understand like humans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They rely on patterns and probabilities from training data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Can provide incorrect answers (hallucinations)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Never perfect, but very powerful when used correctly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6125"/>
            <a:ext cx="3625552" cy="1866112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7406" y="-9962"/>
            <a:ext cx="3344245" cy="109581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What is Prompt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666" y="1688260"/>
            <a:ext cx="7335311" cy="1781260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Simple Definition:</a:t>
            </a:r>
            <a:r>
              <a:rPr lang="en-US" sz="1400" dirty="0">
                <a:solidFill>
                  <a:schemeClr val="tx2"/>
                </a:solidFill>
              </a:rPr>
              <a:t> &gt; The art and science of crafting effective instructions for LLMs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Why It Matters:</a:t>
            </a:r>
            <a:r>
              <a:rPr lang="en-US" sz="1400" dirty="0">
                <a:solidFill>
                  <a:schemeClr val="tx2"/>
                </a:solidFill>
              </a:rPr>
              <a:t> - Clear instructions = better outputs - Well-crafted prompts drastically improve quality and relevance - Makes you more productive with AI tools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The Formula: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ourier"/>
              </a:rPr>
              <a:t>Prompt = Context + Tokens + Working Around Limitations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6125"/>
            <a:ext cx="3625552" cy="1866112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1763"/>
            <a:ext cx="4316022" cy="137801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Key Components of Effective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167" y="1658918"/>
            <a:ext cx="6125778" cy="2866354"/>
          </a:xfrm>
        </p:spPr>
        <p:txBody>
          <a:bodyPr anchor="t">
            <a:normAutofit fontScale="92500" lnSpcReduction="20000"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600" b="1" dirty="0">
                <a:solidFill>
                  <a:schemeClr val="tx2"/>
                </a:solidFill>
              </a:rPr>
              <a:t>1. Be Clear and Precise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Avoid ambiguity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Specificity is your friend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600" b="1" dirty="0">
                <a:solidFill>
                  <a:schemeClr val="tx2"/>
                </a:solidFill>
              </a:rPr>
              <a:t>2. Provide Enough Context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Give background information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Don’t overwhelm with unnecessary details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600" b="1" dirty="0">
                <a:solidFill>
                  <a:schemeClr val="tx2"/>
                </a:solidFill>
              </a:rPr>
              <a:t>3. Iterate and Refine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First attempt might not be perfect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Tweak your language based on results</a:t>
            </a:r>
          </a:p>
          <a:p>
            <a:pPr lvl="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Building prompts iteratively gets better results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6125"/>
            <a:ext cx="3625552" cy="1866112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960" y="107373"/>
            <a:ext cx="3209018" cy="111654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Example: Poor vs. Good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3340" y="1178417"/>
            <a:ext cx="6432997" cy="3445098"/>
          </a:xfrm>
        </p:spPr>
        <p:txBody>
          <a:bodyPr anchor="t">
            <a:normAutofit fontScale="92500" lnSpcReduction="10000"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600" b="1" dirty="0">
                <a:solidFill>
                  <a:schemeClr val="tx2"/>
                </a:solidFill>
              </a:rPr>
              <a:t>❌ Poor Prompt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Courier"/>
              </a:rPr>
              <a:t>Write a function that will square numbers in a list.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Problems:</a:t>
            </a:r>
            <a:r>
              <a:rPr lang="en-US" sz="1600" dirty="0">
                <a:solidFill>
                  <a:schemeClr val="tx2"/>
                </a:solidFill>
              </a:rPr>
              <a:t> - What language? - Include negative numbers? - Handle non-numbers? - Modify existing list or return new one?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600" b="1" dirty="0">
                <a:solidFill>
                  <a:schemeClr val="tx2"/>
                </a:solidFill>
              </a:rPr>
              <a:t>✅ Good Prompt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Courier"/>
              </a:rPr>
              <a:t>Write a Python function that takes a list of integers 
and returns a new list where each number is squared, 
excluding any negative numbers.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Why It’s Better:</a:t>
            </a:r>
            <a:r>
              <a:rPr lang="en-US" sz="1600" dirty="0">
                <a:solidFill>
                  <a:schemeClr val="tx2"/>
                </a:solidFill>
              </a:rPr>
              <a:t> - ✓ Specifies language (Python) - ✓ Defines input type (list of integers) - ✓ States expected output (new list) - ✓ Includes constraints (exclude negatives) - ✓ Clear about behavior (squared)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6125"/>
            <a:ext cx="3625552" cy="1866112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38" y="148083"/>
            <a:ext cx="3261179" cy="10274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2700" dirty="0">
                <a:solidFill>
                  <a:schemeClr val="tx2"/>
                </a:solidFill>
              </a:rPr>
              <a:t>Common Pitfalls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537" y="1323566"/>
            <a:ext cx="7574955" cy="3109732"/>
          </a:xfrm>
        </p:spPr>
        <p:txBody>
          <a:bodyPr anchor="t">
            <a:normAutofit lnSpcReduction="10000"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800" b="1" dirty="0">
                <a:solidFill>
                  <a:schemeClr val="tx2"/>
                </a:solidFill>
              </a:rPr>
              <a:t>Problem 1: Prompt Confusion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Issue:</a:t>
            </a:r>
            <a:r>
              <a:rPr lang="en-US" sz="1800" dirty="0">
                <a:solidFill>
                  <a:schemeClr val="tx2"/>
                </a:solidFill>
              </a:rPr>
              <a:t> Mixing multiple requests or unclear instructions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Example: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800" dirty="0">
                <a:solidFill>
                  <a:schemeClr val="tx2"/>
                </a:solidFill>
                <a:latin typeface="Courier"/>
              </a:rPr>
              <a:t>Fix the errors in this code and optimize it.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Questions:</a:t>
            </a:r>
            <a:r>
              <a:rPr lang="en-US" sz="1800" dirty="0">
                <a:solidFill>
                  <a:schemeClr val="tx2"/>
                </a:solidFill>
              </a:rPr>
              <a:t> - Fix errors first or optimize first? - Optimize for what? Speed? Memory? Readability?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Solution: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800" dirty="0">
                <a:solidFill>
                  <a:schemeClr val="tx2"/>
                </a:solidFill>
                <a:latin typeface="Courier"/>
              </a:rPr>
              <a:t>1. First, fix the syntax errors in this code snippet.
2. Then, optimize the fixed code for better performance.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6125"/>
            <a:ext cx="3625552" cy="1866112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548" y="107373"/>
            <a:ext cx="3846522" cy="111654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2700" dirty="0">
                <a:solidFill>
                  <a:schemeClr val="tx2"/>
                </a:solidFill>
              </a:rPr>
              <a:t>Common Pitfalls &amp; Solutions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00" y="1564783"/>
            <a:ext cx="6394361" cy="2202287"/>
          </a:xfrm>
        </p:spPr>
        <p:txBody>
          <a:bodyPr anchor="t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400" b="1" dirty="0">
                <a:solidFill>
                  <a:schemeClr val="tx2"/>
                </a:solidFill>
              </a:rPr>
              <a:t>Problem 2: Token Overload</a:t>
            </a:r>
          </a:p>
          <a:p>
            <a:pPr marL="0" lv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Issue:</a:t>
            </a:r>
            <a:r>
              <a:rPr lang="en-US" sz="1400" dirty="0">
                <a:solidFill>
                  <a:schemeClr val="tx2"/>
                </a:solidFill>
              </a:rPr>
              <a:t> Prompts too long or expecting extensive output</a:t>
            </a:r>
          </a:p>
          <a:p>
            <a:pPr marL="0" lv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Symptoms:</a:t>
            </a:r>
            <a:r>
              <a:rPr lang="en-US" sz="1400" dirty="0">
                <a:solidFill>
                  <a:schemeClr val="tx2"/>
                </a:solidFill>
              </a:rPr>
              <a:t> - Model hallucinates - Cuts itself off mid-response - Partial or failed responses</a:t>
            </a:r>
          </a:p>
          <a:p>
            <a:pPr marL="0" lv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Solution:</a:t>
            </a:r>
            <a:r>
              <a:rPr lang="en-US" sz="1400" dirty="0">
                <a:solidFill>
                  <a:schemeClr val="tx2"/>
                </a:solidFill>
              </a:rPr>
              <a:t> - Keep prompts concise - Iterate on smaller parts - Provide only necessary context - Break large tasks into components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6125"/>
            <a:ext cx="3625552" cy="1866112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005" y="164422"/>
            <a:ext cx="3209018" cy="98423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IN" sz="2700" dirty="0">
                <a:solidFill>
                  <a:schemeClr val="tx2"/>
                </a:solidFill>
              </a:rPr>
              <a:t>Common Pitfalls &amp; Solutions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913" y="1655786"/>
            <a:ext cx="7289442" cy="1546475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1200" b="1" dirty="0">
                <a:solidFill>
                  <a:schemeClr val="tx2"/>
                </a:solidFill>
              </a:rPr>
              <a:t>Problem 3: Assuming Too Much Knowledge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chemeClr val="tx2"/>
                </a:solidFill>
              </a:rPr>
              <a:t>Issue:</a:t>
            </a:r>
            <a:r>
              <a:rPr lang="en-US" sz="1200" dirty="0">
                <a:solidFill>
                  <a:schemeClr val="tx2"/>
                </a:solidFill>
              </a:rPr>
              <a:t> LLM doesn’t know your specific context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</a:t>
            </a:r>
          </a:p>
          <a:p>
            <a:pPr lv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Courier"/>
              </a:rPr>
              <a:t>Add authentication to my app.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chemeClr val="tx2"/>
                </a:solidFill>
              </a:rPr>
              <a:t>Questions:</a:t>
            </a:r>
            <a:r>
              <a:rPr lang="en-US" sz="1200" dirty="0">
                <a:solidFill>
                  <a:schemeClr val="tx2"/>
                </a:solidFill>
              </a:rPr>
              <a:t> - What does your app do? - Which technologies? - What type of authentication?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chemeClr val="tx2"/>
                </a:solidFill>
              </a:rPr>
              <a:t>Solution:</a:t>
            </a:r>
            <a:r>
              <a:rPr lang="en-US" sz="1200" dirty="0">
                <a:solidFill>
                  <a:schemeClr val="tx2"/>
                </a:solidFill>
              </a:rPr>
              <a:t> - Explicitly state requirements - Mention technologies and frameworks - Reference best practices if needed - Be ready to iterate with edge cases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6125"/>
            <a:ext cx="3625552" cy="1866112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36" y="93484"/>
            <a:ext cx="3588944" cy="111654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2700" dirty="0">
                <a:solidFill>
                  <a:schemeClr val="tx2"/>
                </a:solidFill>
              </a:rPr>
              <a:t>Best Practices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8417" y="1468192"/>
            <a:ext cx="6471634" cy="3239036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600" b="1" dirty="0">
                <a:solidFill>
                  <a:schemeClr val="tx2"/>
                </a:solidFill>
              </a:rPr>
              <a:t>The Golden Rules: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600" b="1" dirty="0">
                <a:solidFill>
                  <a:schemeClr val="tx2"/>
                </a:solidFill>
              </a:rPr>
              <a:t>Be Clear, Concise, and Precise</a:t>
            </a:r>
          </a:p>
          <a:p>
            <a:pPr lvl="1">
              <a:lnSpc>
                <a:spcPct val="90000"/>
              </a:lnSpc>
            </a:pPr>
            <a:r>
              <a:rPr lang="en-US" sz="600" dirty="0">
                <a:solidFill>
                  <a:schemeClr val="tx2"/>
                </a:solidFill>
              </a:rPr>
              <a:t>Use specific language</a:t>
            </a:r>
          </a:p>
          <a:p>
            <a:pPr lvl="1">
              <a:lnSpc>
                <a:spcPct val="90000"/>
              </a:lnSpc>
            </a:pPr>
            <a:r>
              <a:rPr lang="en-US" sz="600" dirty="0">
                <a:solidFill>
                  <a:schemeClr val="tx2"/>
                </a:solidFill>
              </a:rPr>
              <a:t>Define your requirements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600" b="1" dirty="0">
                <a:solidFill>
                  <a:schemeClr val="tx2"/>
                </a:solidFill>
              </a:rPr>
              <a:t>Provide Appropriate Context</a:t>
            </a:r>
          </a:p>
          <a:p>
            <a:pPr lvl="1">
              <a:lnSpc>
                <a:spcPct val="90000"/>
              </a:lnSpc>
            </a:pPr>
            <a:r>
              <a:rPr lang="en-US" sz="600" dirty="0">
                <a:solidFill>
                  <a:schemeClr val="tx2"/>
                </a:solidFill>
              </a:rPr>
              <a:t>Enough to understand, not too much to overwhelm</a:t>
            </a:r>
          </a:p>
          <a:p>
            <a:pPr lvl="1">
              <a:lnSpc>
                <a:spcPct val="90000"/>
              </a:lnSpc>
            </a:pPr>
            <a:r>
              <a:rPr lang="en-US" sz="600" dirty="0">
                <a:solidFill>
                  <a:schemeClr val="tx2"/>
                </a:solidFill>
              </a:rPr>
              <a:t>Include relevant constraints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600" b="1" dirty="0">
                <a:solidFill>
                  <a:schemeClr val="tx2"/>
                </a:solidFill>
              </a:rPr>
              <a:t>Break Down Complex Tasks</a:t>
            </a:r>
          </a:p>
          <a:p>
            <a:pPr lvl="1">
              <a:lnSpc>
                <a:spcPct val="90000"/>
              </a:lnSpc>
            </a:pPr>
            <a:r>
              <a:rPr lang="en-US" sz="600" dirty="0">
                <a:solidFill>
                  <a:schemeClr val="tx2"/>
                </a:solidFill>
              </a:rPr>
              <a:t>Multiple smaller prompts &gt; one large prompt</a:t>
            </a:r>
          </a:p>
          <a:p>
            <a:pPr lvl="1">
              <a:lnSpc>
                <a:spcPct val="90000"/>
              </a:lnSpc>
            </a:pPr>
            <a:r>
              <a:rPr lang="en-US" sz="600" dirty="0">
                <a:solidFill>
                  <a:schemeClr val="tx2"/>
                </a:solidFill>
              </a:rPr>
              <a:t>Iterate from there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600" b="1" dirty="0">
                <a:solidFill>
                  <a:schemeClr val="tx2"/>
                </a:solidFill>
              </a:rPr>
              <a:t>State Your Requirements Explicitly</a:t>
            </a:r>
          </a:p>
          <a:p>
            <a:pPr lvl="1">
              <a:lnSpc>
                <a:spcPct val="90000"/>
              </a:lnSpc>
            </a:pPr>
            <a:r>
              <a:rPr lang="en-US" sz="600" dirty="0">
                <a:solidFill>
                  <a:schemeClr val="tx2"/>
                </a:solidFill>
              </a:rPr>
              <a:t>Language, framework, version</a:t>
            </a:r>
          </a:p>
          <a:p>
            <a:pPr lvl="1">
              <a:lnSpc>
                <a:spcPct val="90000"/>
              </a:lnSpc>
            </a:pPr>
            <a:r>
              <a:rPr lang="en-US" sz="600" dirty="0">
                <a:solidFill>
                  <a:schemeClr val="tx2"/>
                </a:solidFill>
              </a:rPr>
              <a:t>Input/output types</a:t>
            </a:r>
          </a:p>
          <a:p>
            <a:pPr lvl="1">
              <a:lnSpc>
                <a:spcPct val="90000"/>
              </a:lnSpc>
            </a:pPr>
            <a:r>
              <a:rPr lang="en-US" sz="600" dirty="0">
                <a:solidFill>
                  <a:schemeClr val="tx2"/>
                </a:solidFill>
              </a:rPr>
              <a:t>Constraints and edge cases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600" b="1" dirty="0">
                <a:solidFill>
                  <a:schemeClr val="tx2"/>
                </a:solidFill>
              </a:rPr>
              <a:t>Iterate and Refine</a:t>
            </a:r>
          </a:p>
          <a:p>
            <a:pPr lvl="1">
              <a:lnSpc>
                <a:spcPct val="90000"/>
              </a:lnSpc>
            </a:pPr>
            <a:r>
              <a:rPr lang="en-US" sz="600" dirty="0">
                <a:solidFill>
                  <a:schemeClr val="tx2"/>
                </a:solidFill>
              </a:rPr>
              <a:t>First attempt is rarely perfect</a:t>
            </a:r>
          </a:p>
          <a:p>
            <a:pPr lvl="1">
              <a:lnSpc>
                <a:spcPct val="90000"/>
              </a:lnSpc>
            </a:pPr>
            <a:r>
              <a:rPr lang="en-US" sz="600" dirty="0">
                <a:solidFill>
                  <a:schemeClr val="tx2"/>
                </a:solidFill>
              </a:rPr>
              <a:t>Learn from each interaction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6125"/>
            <a:ext cx="3625552" cy="1866112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943" y="743445"/>
            <a:ext cx="4316022" cy="137801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2700">
                <a:solidFill>
                  <a:schemeClr val="tx2"/>
                </a:solidFill>
              </a:rPr>
              <a:t>🎓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7809" y="2234502"/>
            <a:ext cx="4282290" cy="1823148"/>
          </a:xfrm>
        </p:spPr>
        <p:txBody>
          <a:bodyPr anchor="t">
            <a:normAutofit/>
          </a:bodyPr>
          <a:lstStyle/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900" b="1">
                <a:solidFill>
                  <a:schemeClr val="tx2"/>
                </a:solidFill>
              </a:rPr>
              <a:t>LLMs are powerful tools</a:t>
            </a:r>
            <a:r>
              <a:rPr lang="en-US" sz="900">
                <a:solidFill>
                  <a:schemeClr val="tx2"/>
                </a:solidFill>
              </a:rPr>
              <a:t> but need proper guidance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900" b="1">
                <a:solidFill>
                  <a:schemeClr val="tx2"/>
                </a:solidFill>
              </a:rPr>
              <a:t>Prompt engineering is communication</a:t>
            </a:r>
            <a:r>
              <a:rPr lang="en-US" sz="900">
                <a:solidFill>
                  <a:schemeClr val="tx2"/>
                </a:solidFill>
              </a:rPr>
              <a:t> with AI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900" b="1">
                <a:solidFill>
                  <a:schemeClr val="tx2"/>
                </a:solidFill>
              </a:rPr>
              <a:t>Clarity and context</a:t>
            </a:r>
            <a:r>
              <a:rPr lang="en-US" sz="900">
                <a:solidFill>
                  <a:schemeClr val="tx2"/>
                </a:solidFill>
              </a:rPr>
              <a:t> are essential for good results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900" b="1">
                <a:solidFill>
                  <a:schemeClr val="tx2"/>
                </a:solidFill>
              </a:rPr>
              <a:t>Iteration is normal</a:t>
            </a:r>
            <a:r>
              <a:rPr lang="en-US" sz="900">
                <a:solidFill>
                  <a:schemeClr val="tx2"/>
                </a:solidFill>
              </a:rPr>
              <a:t> and expected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en-US" sz="900" b="1">
                <a:solidFill>
                  <a:schemeClr val="tx2"/>
                </a:solidFill>
              </a:rPr>
              <a:t>Practice makes perfect</a:t>
            </a:r>
            <a:r>
              <a:rPr lang="en-US" sz="900">
                <a:solidFill>
                  <a:schemeClr val="tx2"/>
                </a:solidFill>
              </a:rPr>
              <a:t> - the more you use it, the better you get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en-US" sz="900" b="1">
                <a:solidFill>
                  <a:schemeClr val="tx2"/>
                </a:solidFill>
              </a:rPr>
              <a:t>Remember: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en-US" sz="900">
                <a:solidFill>
                  <a:schemeClr val="tx2"/>
                </a:solidFill>
              </a:rPr>
              <a:t>“Prompt engineering is really about being a good communicator with the computer. Very similar to coding.”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Montserra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Office PowerPoint</Application>
  <PresentationFormat>On-screen Show (16:9)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Courier</vt:lpstr>
      <vt:lpstr>Arial</vt:lpstr>
      <vt:lpstr>Calibri</vt:lpstr>
      <vt:lpstr>Montserrat</vt:lpstr>
      <vt:lpstr>Office Theme</vt:lpstr>
      <vt:lpstr>Prompt Engineering Essentials</vt:lpstr>
      <vt:lpstr>Getting Better Results from GitHub Copilot &amp; LLMs</vt:lpstr>
      <vt:lpstr> Session Objectives</vt:lpstr>
      <vt:lpstr>What are Large Language Models (LLMs)?</vt:lpstr>
      <vt:lpstr>Three Key Concepts to Understand LLMs</vt:lpstr>
      <vt:lpstr>What is Prompt Engineering?</vt:lpstr>
      <vt:lpstr>Key Components of Effective Prompting</vt:lpstr>
      <vt:lpstr>Example: Poor vs. Good Prompt</vt:lpstr>
      <vt:lpstr>Common Pitfalls &amp; Solutions</vt:lpstr>
      <vt:lpstr>Common Pitfalls &amp; Solutions (cont.)</vt:lpstr>
      <vt:lpstr>Common Pitfalls &amp; Solutions (cont.)</vt:lpstr>
      <vt:lpstr>Best Practices Summary</vt:lpstr>
      <vt:lpstr>🎓 Key Takeaways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Vijay Perepa</cp:lastModifiedBy>
  <cp:revision>1</cp:revision>
  <dcterms:created xsi:type="dcterms:W3CDTF">2026-01-17T06:55:57Z</dcterms:created>
  <dcterms:modified xsi:type="dcterms:W3CDTF">2026-01-18T21:21:06Z</dcterms:modified>
</cp:coreProperties>
</file>