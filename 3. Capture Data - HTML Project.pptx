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notesMasterIdLst>
    <p:notesMasterId r:id="rId14"/>
  </p:notesMasterIdLst>
  <p:sldIdLst>
    <p:sldId id="256" r:id="rId2"/>
    <p:sldId id="257" r:id="rId3"/>
    <p:sldId id="259" r:id="rId4"/>
    <p:sldId id="260" r:id="rId5"/>
    <p:sldId id="261" r:id="rId6"/>
    <p:sldId id="262" r:id="rId7"/>
    <p:sldId id="263" r:id="rId8"/>
    <p:sldId id="264" r:id="rId9"/>
    <p:sldId id="265" r:id="rId10"/>
    <p:sldId id="267" r:id="rId11"/>
    <p:sldId id="269"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D3C7ED-5192-4BCA-B5C8-0D345393F4D3}" type="datetimeFigureOut">
              <a:rPr lang="en-IN" smtClean="0"/>
              <a:t>16-01-2026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3F9CC3-2089-468C-859C-5E3002A3B78F}" type="slidenum">
              <a:rPr lang="en-IN" smtClean="0"/>
              <a:t>‹#›</a:t>
            </a:fld>
            <a:endParaRPr lang="en-IN"/>
          </a:p>
        </p:txBody>
      </p:sp>
    </p:spTree>
    <p:extLst>
      <p:ext uri="{BB962C8B-B14F-4D97-AF65-F5344CB8AC3E}">
        <p14:creationId xmlns:p14="http://schemas.microsoft.com/office/powerpoint/2010/main" val="19029077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B3F9CC3-2089-468C-859C-5E3002A3B78F}" type="slidenum">
              <a:rPr lang="en-IN" smtClean="0"/>
              <a:t>2</a:t>
            </a:fld>
            <a:endParaRPr lang="en-IN" dirty="0"/>
          </a:p>
        </p:txBody>
      </p:sp>
    </p:spTree>
    <p:extLst>
      <p:ext uri="{BB962C8B-B14F-4D97-AF65-F5344CB8AC3E}">
        <p14:creationId xmlns:p14="http://schemas.microsoft.com/office/powerpoint/2010/main" val="20375379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4F546-7F44-1FA0-904A-9B6B0B1E58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6491CC-9F43-F99F-A7C1-F63A65C44C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3924F2-4E8F-12CE-F9C9-CFF1B32306A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61FAC62-055C-121A-A162-692CE1CCBFCC}"/>
              </a:ext>
            </a:extLst>
          </p:cNvPr>
          <p:cNvSpPr>
            <a:spLocks noGrp="1"/>
          </p:cNvSpPr>
          <p:nvPr>
            <p:ph type="sldNum" sz="quarter" idx="5"/>
          </p:nvPr>
        </p:nvSpPr>
        <p:spPr/>
        <p:txBody>
          <a:bodyPr/>
          <a:lstStyle/>
          <a:p>
            <a:fld id="{EB3F9CC3-2089-468C-859C-5E3002A3B78F}" type="slidenum">
              <a:rPr lang="en-IN" smtClean="0"/>
              <a:t>3</a:t>
            </a:fld>
            <a:endParaRPr lang="en-IN" dirty="0"/>
          </a:p>
        </p:txBody>
      </p:sp>
    </p:spTree>
    <p:extLst>
      <p:ext uri="{BB962C8B-B14F-4D97-AF65-F5344CB8AC3E}">
        <p14:creationId xmlns:p14="http://schemas.microsoft.com/office/powerpoint/2010/main" val="2313971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2F496-4E8A-E96E-4A91-961079B515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55E436-CA74-DAA5-A14B-581DBD4617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D8F286-16D0-7DB1-AA74-62D8E1C2CAD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D05215E-7605-68FE-AB39-3CC64C61EFB8}"/>
              </a:ext>
            </a:extLst>
          </p:cNvPr>
          <p:cNvSpPr>
            <a:spLocks noGrp="1"/>
          </p:cNvSpPr>
          <p:nvPr>
            <p:ph type="sldNum" sz="quarter" idx="5"/>
          </p:nvPr>
        </p:nvSpPr>
        <p:spPr/>
        <p:txBody>
          <a:bodyPr/>
          <a:lstStyle/>
          <a:p>
            <a:fld id="{EB3F9CC3-2089-468C-859C-5E3002A3B78F}" type="slidenum">
              <a:rPr lang="en-IN" smtClean="0"/>
              <a:t>4</a:t>
            </a:fld>
            <a:endParaRPr lang="en-IN" dirty="0"/>
          </a:p>
        </p:txBody>
      </p:sp>
    </p:spTree>
    <p:extLst>
      <p:ext uri="{BB962C8B-B14F-4D97-AF65-F5344CB8AC3E}">
        <p14:creationId xmlns:p14="http://schemas.microsoft.com/office/powerpoint/2010/main" val="5911175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8C947-FE16-6AA5-2F26-4BE8E90786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28FA8F-F50E-6E2B-451C-BAC11E6C81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F58985-B9A0-B930-CDA2-379A9246C94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A43AB8A-0427-137E-A1D9-D4D27CA54A39}"/>
              </a:ext>
            </a:extLst>
          </p:cNvPr>
          <p:cNvSpPr>
            <a:spLocks noGrp="1"/>
          </p:cNvSpPr>
          <p:nvPr>
            <p:ph type="sldNum" sz="quarter" idx="5"/>
          </p:nvPr>
        </p:nvSpPr>
        <p:spPr/>
        <p:txBody>
          <a:bodyPr/>
          <a:lstStyle/>
          <a:p>
            <a:fld id="{EB3F9CC3-2089-468C-859C-5E3002A3B78F}" type="slidenum">
              <a:rPr lang="en-IN" smtClean="0"/>
              <a:t>5</a:t>
            </a:fld>
            <a:endParaRPr lang="en-IN" dirty="0"/>
          </a:p>
        </p:txBody>
      </p:sp>
    </p:spTree>
    <p:extLst>
      <p:ext uri="{BB962C8B-B14F-4D97-AF65-F5344CB8AC3E}">
        <p14:creationId xmlns:p14="http://schemas.microsoft.com/office/powerpoint/2010/main" val="23354923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6C0ED-82A4-E814-BFA2-45698D6379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43B774-E000-6CFA-DCF3-42EEE3692F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2E1861-C45F-8814-3EA6-99B60C6B3CB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6D895D4-32CB-E2F6-A2B3-5195E01E7141}"/>
              </a:ext>
            </a:extLst>
          </p:cNvPr>
          <p:cNvSpPr>
            <a:spLocks noGrp="1"/>
          </p:cNvSpPr>
          <p:nvPr>
            <p:ph type="sldNum" sz="quarter" idx="5"/>
          </p:nvPr>
        </p:nvSpPr>
        <p:spPr/>
        <p:txBody>
          <a:bodyPr/>
          <a:lstStyle/>
          <a:p>
            <a:fld id="{EB3F9CC3-2089-468C-859C-5E3002A3B78F}" type="slidenum">
              <a:rPr lang="en-IN" smtClean="0"/>
              <a:t>6</a:t>
            </a:fld>
            <a:endParaRPr lang="en-IN" dirty="0"/>
          </a:p>
        </p:txBody>
      </p:sp>
    </p:spTree>
    <p:extLst>
      <p:ext uri="{BB962C8B-B14F-4D97-AF65-F5344CB8AC3E}">
        <p14:creationId xmlns:p14="http://schemas.microsoft.com/office/powerpoint/2010/main" val="21250677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BD862-606B-4DF4-BECA-B87B72CD74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1E966A-385B-7C91-5BA7-C557A22E5E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3437F7-B929-9698-45D6-33DCC4BA743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A2779FC-78D1-6DE9-98C9-B54C902B71CC}"/>
              </a:ext>
            </a:extLst>
          </p:cNvPr>
          <p:cNvSpPr>
            <a:spLocks noGrp="1"/>
          </p:cNvSpPr>
          <p:nvPr>
            <p:ph type="sldNum" sz="quarter" idx="5"/>
          </p:nvPr>
        </p:nvSpPr>
        <p:spPr/>
        <p:txBody>
          <a:bodyPr/>
          <a:lstStyle/>
          <a:p>
            <a:fld id="{EB3F9CC3-2089-468C-859C-5E3002A3B78F}" type="slidenum">
              <a:rPr lang="en-IN" smtClean="0"/>
              <a:t>7</a:t>
            </a:fld>
            <a:endParaRPr lang="en-IN" dirty="0"/>
          </a:p>
        </p:txBody>
      </p:sp>
    </p:spTree>
    <p:extLst>
      <p:ext uri="{BB962C8B-B14F-4D97-AF65-F5344CB8AC3E}">
        <p14:creationId xmlns:p14="http://schemas.microsoft.com/office/powerpoint/2010/main" val="28972452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74343-625C-5297-56B3-F8E6CA344B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B1972E-9646-5B94-3CE8-83363E6531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CFAD6E-5DD5-BC1A-7D74-E4BE5E8C23C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D431FE7-FB45-DF99-E1AF-FA68B6AEB1AD}"/>
              </a:ext>
            </a:extLst>
          </p:cNvPr>
          <p:cNvSpPr>
            <a:spLocks noGrp="1"/>
          </p:cNvSpPr>
          <p:nvPr>
            <p:ph type="sldNum" sz="quarter" idx="5"/>
          </p:nvPr>
        </p:nvSpPr>
        <p:spPr/>
        <p:txBody>
          <a:bodyPr/>
          <a:lstStyle/>
          <a:p>
            <a:fld id="{EB3F9CC3-2089-468C-859C-5E3002A3B78F}" type="slidenum">
              <a:rPr lang="en-IN" smtClean="0"/>
              <a:t>8</a:t>
            </a:fld>
            <a:endParaRPr lang="en-IN" dirty="0"/>
          </a:p>
        </p:txBody>
      </p:sp>
    </p:spTree>
    <p:extLst>
      <p:ext uri="{BB962C8B-B14F-4D97-AF65-F5344CB8AC3E}">
        <p14:creationId xmlns:p14="http://schemas.microsoft.com/office/powerpoint/2010/main" val="38819462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DD261-E466-A5AB-7923-5EAA1D30AD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3D2765-1288-6F90-E8C2-77E55248C0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EAC107-FFFF-1E74-2D6E-1D01341781F3}"/>
              </a:ext>
            </a:extLst>
          </p:cNvPr>
          <p:cNvSpPr>
            <a:spLocks noGrp="1"/>
          </p:cNvSpPr>
          <p:nvPr>
            <p:ph type="body" idx="1"/>
          </p:nvPr>
        </p:nvSpPr>
        <p:spPr/>
        <p:txBody>
          <a:bodyPr/>
          <a:lstStyle/>
          <a:p>
            <a:r>
              <a:rPr lang="en-IN" dirty="0"/>
              <a:t>Current project might not require this file but going forward when the project is getting bigger we might require to have this in place to understand the summary and what is happening in the project. This name should not change to any other name. It should be either copilot-instructions.md or AGENTS.md. To know agents.md applicability you can just search agents.md in google to get idea which all tools support this markdown file.</a:t>
            </a:r>
          </a:p>
        </p:txBody>
      </p:sp>
      <p:sp>
        <p:nvSpPr>
          <p:cNvPr id="4" name="Slide Number Placeholder 3">
            <a:extLst>
              <a:ext uri="{FF2B5EF4-FFF2-40B4-BE49-F238E27FC236}">
                <a16:creationId xmlns:a16="http://schemas.microsoft.com/office/drawing/2014/main" id="{14BD20AA-DA4B-AB74-A921-4DBA871D20E6}"/>
              </a:ext>
            </a:extLst>
          </p:cNvPr>
          <p:cNvSpPr>
            <a:spLocks noGrp="1"/>
          </p:cNvSpPr>
          <p:nvPr>
            <p:ph type="sldNum" sz="quarter" idx="5"/>
          </p:nvPr>
        </p:nvSpPr>
        <p:spPr/>
        <p:txBody>
          <a:bodyPr/>
          <a:lstStyle/>
          <a:p>
            <a:fld id="{EB3F9CC3-2089-468C-859C-5E3002A3B78F}" type="slidenum">
              <a:rPr lang="en-IN" smtClean="0"/>
              <a:t>9</a:t>
            </a:fld>
            <a:endParaRPr lang="en-IN" dirty="0"/>
          </a:p>
        </p:txBody>
      </p:sp>
    </p:spTree>
    <p:extLst>
      <p:ext uri="{BB962C8B-B14F-4D97-AF65-F5344CB8AC3E}">
        <p14:creationId xmlns:p14="http://schemas.microsoft.com/office/powerpoint/2010/main" val="2011081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30589-04AF-65F4-F5D2-471069D0FB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703BD4-A30B-EF69-0FDC-EBBFC22585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D2E39D-4A50-B1BE-6668-D5EA69030D94}"/>
              </a:ext>
            </a:extLst>
          </p:cNvPr>
          <p:cNvSpPr>
            <a:spLocks noGrp="1"/>
          </p:cNvSpPr>
          <p:nvPr>
            <p:ph type="body" idx="1"/>
          </p:nvPr>
        </p:nvSpPr>
        <p:spPr/>
        <p:txBody>
          <a:bodyPr/>
          <a:lstStyle/>
          <a:p>
            <a:r>
              <a:rPr lang="en-IN" dirty="0"/>
              <a:t>Current project might not require this file but going forward when the project is getting bigger we might require to have this in place to understand the summary and what is happening in the project. This name should not change to any other name. It should be either copilot-instructions.md or AGENTS.md. To know agents.md applicability you can just search agents.md in google to get idea which all tools support this markdown file.</a:t>
            </a:r>
          </a:p>
        </p:txBody>
      </p:sp>
      <p:sp>
        <p:nvSpPr>
          <p:cNvPr id="4" name="Slide Number Placeholder 3">
            <a:extLst>
              <a:ext uri="{FF2B5EF4-FFF2-40B4-BE49-F238E27FC236}">
                <a16:creationId xmlns:a16="http://schemas.microsoft.com/office/drawing/2014/main" id="{3439F34A-F484-B49D-267C-ABA95556C708}"/>
              </a:ext>
            </a:extLst>
          </p:cNvPr>
          <p:cNvSpPr>
            <a:spLocks noGrp="1"/>
          </p:cNvSpPr>
          <p:nvPr>
            <p:ph type="sldNum" sz="quarter" idx="5"/>
          </p:nvPr>
        </p:nvSpPr>
        <p:spPr/>
        <p:txBody>
          <a:bodyPr/>
          <a:lstStyle/>
          <a:p>
            <a:fld id="{EB3F9CC3-2089-468C-859C-5E3002A3B78F}" type="slidenum">
              <a:rPr lang="en-IN" smtClean="0"/>
              <a:t>10</a:t>
            </a:fld>
            <a:endParaRPr lang="en-IN" dirty="0"/>
          </a:p>
        </p:txBody>
      </p:sp>
    </p:spTree>
    <p:extLst>
      <p:ext uri="{BB962C8B-B14F-4D97-AF65-F5344CB8AC3E}">
        <p14:creationId xmlns:p14="http://schemas.microsoft.com/office/powerpoint/2010/main" val="21380888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8F39B-FD1B-1E20-C02F-2A4F76026E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DC4B4C-DC1C-B848-3F33-F5B602D7A5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A4AB2A-95B5-7F4E-7F5F-B28F0C3F95A4}"/>
              </a:ext>
            </a:extLst>
          </p:cNvPr>
          <p:cNvSpPr>
            <a:spLocks noGrp="1"/>
          </p:cNvSpPr>
          <p:nvPr>
            <p:ph type="body" idx="1"/>
          </p:nvPr>
        </p:nvSpPr>
        <p:spPr/>
        <p:txBody>
          <a:bodyPr/>
          <a:lstStyle/>
          <a:p>
            <a:r>
              <a:rPr lang="en-IN" dirty="0"/>
              <a:t>Current project might not require this file but going forward when the project is getting bigger we might require to have this in place to understand the summary and what is happening in the project. This name should not change to any other name. It should be either copilot-instructions.md or AGENTS.md. To know agents.md applicability you can just search agents.md in google to get idea which all tools support this markdown file.</a:t>
            </a:r>
          </a:p>
        </p:txBody>
      </p:sp>
      <p:sp>
        <p:nvSpPr>
          <p:cNvPr id="4" name="Slide Number Placeholder 3">
            <a:extLst>
              <a:ext uri="{FF2B5EF4-FFF2-40B4-BE49-F238E27FC236}">
                <a16:creationId xmlns:a16="http://schemas.microsoft.com/office/drawing/2014/main" id="{EF69E416-B865-E014-C6BF-E356C46F6C91}"/>
              </a:ext>
            </a:extLst>
          </p:cNvPr>
          <p:cNvSpPr>
            <a:spLocks noGrp="1"/>
          </p:cNvSpPr>
          <p:nvPr>
            <p:ph type="sldNum" sz="quarter" idx="5"/>
          </p:nvPr>
        </p:nvSpPr>
        <p:spPr/>
        <p:txBody>
          <a:bodyPr/>
          <a:lstStyle/>
          <a:p>
            <a:fld id="{EB3F9CC3-2089-468C-859C-5E3002A3B78F}" type="slidenum">
              <a:rPr lang="en-IN" smtClean="0"/>
              <a:t>11</a:t>
            </a:fld>
            <a:endParaRPr lang="en-IN" dirty="0"/>
          </a:p>
        </p:txBody>
      </p:sp>
    </p:spTree>
    <p:extLst>
      <p:ext uri="{BB962C8B-B14F-4D97-AF65-F5344CB8AC3E}">
        <p14:creationId xmlns:p14="http://schemas.microsoft.com/office/powerpoint/2010/main" val="10679302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1D099-7175-F214-3CB9-4CEE7DF452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EFDDDB-D1A9-802B-D26D-EBD135275E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BB908B-0362-D149-96CA-B7814C7DD673}"/>
              </a:ext>
            </a:extLst>
          </p:cNvPr>
          <p:cNvSpPr>
            <a:spLocks noGrp="1"/>
          </p:cNvSpPr>
          <p:nvPr>
            <p:ph type="body" idx="1"/>
          </p:nvPr>
        </p:nvSpPr>
        <p:spPr/>
        <p:txBody>
          <a:bodyPr/>
          <a:lstStyle/>
          <a:p>
            <a:r>
              <a:rPr lang="en-IN" dirty="0"/>
              <a:t>Current project might not require this file but going forward when the project is getting bigger we might require to have this in place to understand the summary and what is happening in the project. This name should not change to any other name. It should be either copilot-instructions.md or AGENTS.md. To know agents.md applicability you can just search agents.md in google to get idea which all tools support this markdown file.</a:t>
            </a:r>
          </a:p>
        </p:txBody>
      </p:sp>
      <p:sp>
        <p:nvSpPr>
          <p:cNvPr id="4" name="Slide Number Placeholder 3">
            <a:extLst>
              <a:ext uri="{FF2B5EF4-FFF2-40B4-BE49-F238E27FC236}">
                <a16:creationId xmlns:a16="http://schemas.microsoft.com/office/drawing/2014/main" id="{5AD3370B-C3F9-413A-B479-227A037DA56B}"/>
              </a:ext>
            </a:extLst>
          </p:cNvPr>
          <p:cNvSpPr>
            <a:spLocks noGrp="1"/>
          </p:cNvSpPr>
          <p:nvPr>
            <p:ph type="sldNum" sz="quarter" idx="5"/>
          </p:nvPr>
        </p:nvSpPr>
        <p:spPr/>
        <p:txBody>
          <a:bodyPr/>
          <a:lstStyle/>
          <a:p>
            <a:fld id="{EB3F9CC3-2089-468C-859C-5E3002A3B78F}" type="slidenum">
              <a:rPr lang="en-IN" smtClean="0"/>
              <a:t>12</a:t>
            </a:fld>
            <a:endParaRPr lang="en-IN" dirty="0"/>
          </a:p>
        </p:txBody>
      </p:sp>
    </p:spTree>
    <p:extLst>
      <p:ext uri="{BB962C8B-B14F-4D97-AF65-F5344CB8AC3E}">
        <p14:creationId xmlns:p14="http://schemas.microsoft.com/office/powerpoint/2010/main" val="35393858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1/16/2026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5071626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1/16/2026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536225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1/16/2026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3933761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1/16/2026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8173368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1/16/2026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818774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1/16/2026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0881678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1/16/2026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184879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1/16/2026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151888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1/16/2026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777301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1/16/2026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001404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1/16/2026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7523564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1/16/2026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8312789"/>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2" r:id="rId6"/>
    <p:sldLayoutId id="2147483688" r:id="rId7"/>
    <p:sldLayoutId id="2147483689" r:id="rId8"/>
    <p:sldLayoutId id="2147483690" r:id="rId9"/>
    <p:sldLayoutId id="2147483691" r:id="rId10"/>
    <p:sldLayoutId id="2147483693"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sto MT"/>
              <a:ea typeface="+mn-ea"/>
              <a:cs typeface="+mn-cs"/>
            </a:endParaRPr>
          </a:p>
        </p:txBody>
      </p:sp>
      <p:pic>
        <p:nvPicPr>
          <p:cNvPr id="4" name="Picture 3">
            <a:extLst>
              <a:ext uri="{FF2B5EF4-FFF2-40B4-BE49-F238E27FC236}">
                <a16:creationId xmlns:a16="http://schemas.microsoft.com/office/drawing/2014/main" id="{4D44F474-2FBA-EA2B-E472-6B242BB677E0}"/>
              </a:ext>
            </a:extLst>
          </p:cNvPr>
          <p:cNvPicPr>
            <a:picLocks noChangeAspect="1"/>
          </p:cNvPicPr>
          <p:nvPr/>
        </p:nvPicPr>
        <p:blipFill>
          <a:blip r:embed="rId2"/>
          <a:srcRect b="6250"/>
          <a:stretch>
            <a:fillRect/>
          </a:stretch>
        </p:blipFill>
        <p:spPr>
          <a:xfrm>
            <a:off x="20" y="10"/>
            <a:ext cx="12191979" cy="6857990"/>
          </a:xfrm>
          <a:prstGeom prst="rect">
            <a:avLst/>
          </a:prstGeom>
        </p:spPr>
      </p:pic>
      <p:sp>
        <p:nvSpPr>
          <p:cNvPr id="11" name="Rectangle 10">
            <a:extLst>
              <a:ext uri="{FF2B5EF4-FFF2-40B4-BE49-F238E27FC236}">
                <a16:creationId xmlns:a16="http://schemas.microsoft.com/office/drawing/2014/main" id="{D21F66AB-6D67-4C86-A415-0B6E4EEC5A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3811" y="423809"/>
            <a:ext cx="6858002" cy="6010383"/>
          </a:xfrm>
          <a:prstGeom prst="rect">
            <a:avLst/>
          </a:prstGeom>
          <a:gradFill>
            <a:gsLst>
              <a:gs pos="0">
                <a:schemeClr val="bg1">
                  <a:alpha val="0"/>
                </a:schemeClr>
              </a:gs>
              <a:gs pos="46000">
                <a:schemeClr val="bg1">
                  <a:alpha val="31000"/>
                </a:schemeClr>
              </a:gs>
              <a:gs pos="26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sto MT"/>
              <a:ea typeface="+mn-ea"/>
              <a:cs typeface="+mn-cs"/>
            </a:endParaRPr>
          </a:p>
        </p:txBody>
      </p:sp>
      <p:sp>
        <p:nvSpPr>
          <p:cNvPr id="2" name="Title 1">
            <a:extLst>
              <a:ext uri="{FF2B5EF4-FFF2-40B4-BE49-F238E27FC236}">
                <a16:creationId xmlns:a16="http://schemas.microsoft.com/office/drawing/2014/main" id="{233401CC-D8AC-50CB-E02E-21828D9CF920}"/>
              </a:ext>
            </a:extLst>
          </p:cNvPr>
          <p:cNvSpPr>
            <a:spLocks noGrp="1"/>
          </p:cNvSpPr>
          <p:nvPr>
            <p:ph type="ctrTitle"/>
          </p:nvPr>
        </p:nvSpPr>
        <p:spPr>
          <a:xfrm>
            <a:off x="313786" y="908651"/>
            <a:ext cx="5497734" cy="4005454"/>
          </a:xfrm>
        </p:spPr>
        <p:txBody>
          <a:bodyPr anchor="t">
            <a:normAutofit/>
          </a:bodyPr>
          <a:lstStyle/>
          <a:p>
            <a:r>
              <a:rPr lang="en-IN" sz="6800" dirty="0">
                <a:solidFill>
                  <a:schemeClr val="bg1"/>
                </a:solidFill>
                <a:latin typeface="Akira Expanded" panose="02000800000000000000" pitchFamily="50" charset="0"/>
              </a:rPr>
              <a:t>GitHub Copilot</a:t>
            </a:r>
          </a:p>
        </p:txBody>
      </p:sp>
      <p:sp>
        <p:nvSpPr>
          <p:cNvPr id="3" name="Subtitle 2">
            <a:extLst>
              <a:ext uri="{FF2B5EF4-FFF2-40B4-BE49-F238E27FC236}">
                <a16:creationId xmlns:a16="http://schemas.microsoft.com/office/drawing/2014/main" id="{A02B54E3-B2E3-26E6-8A23-DD212FF5D145}"/>
              </a:ext>
            </a:extLst>
          </p:cNvPr>
          <p:cNvSpPr>
            <a:spLocks noGrp="1"/>
          </p:cNvSpPr>
          <p:nvPr>
            <p:ph type="subTitle" idx="1"/>
          </p:nvPr>
        </p:nvSpPr>
        <p:spPr>
          <a:xfrm>
            <a:off x="283739" y="5143501"/>
            <a:ext cx="6096743" cy="495034"/>
          </a:xfrm>
          <a:solidFill>
            <a:srgbClr val="00B0F0"/>
          </a:solidFill>
        </p:spPr>
        <p:txBody>
          <a:bodyPr anchor="ctr">
            <a:normAutofit fontScale="77500" lnSpcReduction="20000"/>
          </a:bodyPr>
          <a:lstStyle/>
          <a:p>
            <a:r>
              <a:rPr lang="en-US" sz="2200" dirty="0">
                <a:ln w="19050">
                  <a:solidFill>
                    <a:schemeClr val="bg1">
                      <a:lumMod val="65000"/>
                      <a:lumOff val="35000"/>
                    </a:schemeClr>
                  </a:solidFill>
                </a:ln>
                <a:effectLst>
                  <a:outerShdw blurRad="50800" dist="38100" algn="l" rotWithShape="0">
                    <a:prstClr val="black">
                      <a:alpha val="40000"/>
                    </a:prstClr>
                  </a:outerShdw>
                </a:effectLst>
                <a:latin typeface="Akira Expanded" panose="02000800000000000000" pitchFamily="50" charset="0"/>
              </a:rPr>
              <a:t>Start a Project using </a:t>
            </a:r>
            <a:r>
              <a:rPr lang="en-IN" sz="2200" dirty="0">
                <a:ln w="19050">
                  <a:solidFill>
                    <a:schemeClr val="bg1">
                      <a:lumMod val="65000"/>
                      <a:lumOff val="35000"/>
                    </a:schemeClr>
                  </a:solidFill>
                </a:ln>
                <a:effectLst>
                  <a:outerShdw blurRad="50800" dist="38100" algn="l" rotWithShape="0">
                    <a:prstClr val="black">
                      <a:alpha val="40000"/>
                    </a:prstClr>
                  </a:outerShdw>
                </a:effectLst>
                <a:latin typeface="Akira Expanded" panose="02000800000000000000" pitchFamily="50" charset="0"/>
              </a:rPr>
              <a:t>plan mode</a:t>
            </a:r>
            <a:endParaRPr lang="en-US" sz="2200" dirty="0">
              <a:ln w="19050">
                <a:solidFill>
                  <a:schemeClr val="bg1">
                    <a:lumMod val="65000"/>
                    <a:lumOff val="35000"/>
                  </a:schemeClr>
                </a:solidFill>
              </a:ln>
              <a:effectLst>
                <a:outerShdw blurRad="50800" dist="38100" algn="l" rotWithShape="0">
                  <a:prstClr val="black">
                    <a:alpha val="40000"/>
                  </a:prstClr>
                </a:outerShdw>
              </a:effectLst>
              <a:latin typeface="Akira Expanded" panose="02000800000000000000" pitchFamily="50" charset="0"/>
            </a:endParaRPr>
          </a:p>
        </p:txBody>
      </p:sp>
      <p:cxnSp>
        <p:nvCxnSpPr>
          <p:cNvPr id="13" name="Straight Connector 12">
            <a:extLst>
              <a:ext uri="{FF2B5EF4-FFF2-40B4-BE49-F238E27FC236}">
                <a16:creationId xmlns:a16="http://schemas.microsoft.com/office/drawing/2014/main" id="{0B66F5E1-B07D-4718-F4B4-5FCE4B7E8F4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9006" y="727509"/>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557843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6038BEE-BF7F-DACE-C994-0431D2580C53}"/>
              </a:ext>
            </a:extLst>
          </p:cNvPr>
          <p:cNvSpPr>
            <a:spLocks noGrp="1"/>
          </p:cNvSpPr>
          <p:nvPr>
            <p:ph type="title"/>
          </p:nvPr>
        </p:nvSpPr>
        <p:spPr>
          <a:xfrm>
            <a:off x="704088" y="914400"/>
            <a:ext cx="6239599" cy="1307590"/>
          </a:xfrm>
        </p:spPr>
        <p:txBody>
          <a:bodyPr vert="horz" lIns="91440" tIns="45720" rIns="91440" bIns="45720" rtlCol="0" anchor="t">
            <a:normAutofit/>
          </a:bodyPr>
          <a:lstStyle/>
          <a:p>
            <a:r>
              <a:rPr lang="en-IN" dirty="0"/>
              <a:t>Selecting Ai model</a:t>
            </a:r>
          </a:p>
        </p:txBody>
      </p:sp>
      <p:cxnSp>
        <p:nvCxnSpPr>
          <p:cNvPr id="11" name="Straight Connector 10">
            <a:extLst>
              <a:ext uri="{FF2B5EF4-FFF2-40B4-BE49-F238E27FC236}">
                <a16:creationId xmlns:a16="http://schemas.microsoft.com/office/drawing/2014/main" id="{3815BE95-1337-20E2-B2EF-5DA486F72F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0F72C87-2407-6303-C292-80982DED7771}"/>
              </a:ext>
            </a:extLst>
          </p:cNvPr>
          <p:cNvSpPr>
            <a:spLocks noGrp="1"/>
          </p:cNvSpPr>
          <p:nvPr>
            <p:ph idx="1"/>
          </p:nvPr>
        </p:nvSpPr>
        <p:spPr>
          <a:xfrm>
            <a:off x="883252" y="1838391"/>
            <a:ext cx="6343178" cy="2939349"/>
          </a:xfrm>
        </p:spPr>
        <p:txBody>
          <a:bodyPr>
            <a:normAutofit/>
          </a:bodyPr>
          <a:lstStyle/>
          <a:p>
            <a:pPr marL="0" indent="0">
              <a:buNone/>
            </a:pPr>
            <a:r>
              <a:rPr lang="en-US" dirty="0">
                <a:latin typeface="+mj-lt"/>
              </a:rPr>
              <a:t>While using GitHub Copilot there are 2 types of LLM (Large Language Models) are available. </a:t>
            </a:r>
          </a:p>
          <a:p>
            <a:r>
              <a:rPr lang="en-US" dirty="0">
                <a:latin typeface="+mj-lt"/>
              </a:rPr>
              <a:t>Free tier Models</a:t>
            </a:r>
          </a:p>
          <a:p>
            <a:r>
              <a:rPr lang="en-US" dirty="0">
                <a:latin typeface="+mj-lt"/>
              </a:rPr>
              <a:t>Paid tier Models</a:t>
            </a:r>
          </a:p>
          <a:p>
            <a:pPr marL="0" indent="0">
              <a:buNone/>
            </a:pPr>
            <a:r>
              <a:rPr lang="en-US" dirty="0">
                <a:latin typeface="+mj-lt"/>
              </a:rPr>
              <a:t>Free models are unlimited but might be slower</a:t>
            </a:r>
          </a:p>
          <a:p>
            <a:pPr marL="0" indent="0">
              <a:buNone/>
            </a:pPr>
            <a:r>
              <a:rPr lang="en-US" dirty="0">
                <a:latin typeface="+mj-lt"/>
              </a:rPr>
              <a:t>Paid models are faster and accurate but will be charged at different request rates. </a:t>
            </a:r>
            <a:endParaRPr lang="en-IN" dirty="0">
              <a:latin typeface="+mj-lt"/>
            </a:endParaRPr>
          </a:p>
        </p:txBody>
      </p:sp>
      <p:pic>
        <p:nvPicPr>
          <p:cNvPr id="15" name="Picture 14">
            <a:extLst>
              <a:ext uri="{FF2B5EF4-FFF2-40B4-BE49-F238E27FC236}">
                <a16:creationId xmlns:a16="http://schemas.microsoft.com/office/drawing/2014/main" id="{1152179A-7ABD-B841-CC59-850044E84338}"/>
              </a:ext>
            </a:extLst>
          </p:cNvPr>
          <p:cNvPicPr>
            <a:picLocks noChangeAspect="1"/>
          </p:cNvPicPr>
          <p:nvPr/>
        </p:nvPicPr>
        <p:blipFill>
          <a:blip r:embed="rId3"/>
          <a:srcRect l="18451" r="41229"/>
          <a:stretch>
            <a:fillRect/>
          </a:stretch>
        </p:blipFill>
        <p:spPr>
          <a:xfrm>
            <a:off x="7583424" y="10"/>
            <a:ext cx="4608576" cy="6857990"/>
          </a:xfrm>
          <a:prstGeom prst="rect">
            <a:avLst/>
          </a:prstGeom>
        </p:spPr>
      </p:pic>
      <p:pic>
        <p:nvPicPr>
          <p:cNvPr id="5" name="Picture 4">
            <a:extLst>
              <a:ext uri="{FF2B5EF4-FFF2-40B4-BE49-F238E27FC236}">
                <a16:creationId xmlns:a16="http://schemas.microsoft.com/office/drawing/2014/main" id="{3426CEDE-1ABC-DAEE-48C0-B3C6ECBD8684}"/>
              </a:ext>
            </a:extLst>
          </p:cNvPr>
          <p:cNvPicPr>
            <a:picLocks noChangeAspect="1"/>
          </p:cNvPicPr>
          <p:nvPr/>
        </p:nvPicPr>
        <p:blipFill>
          <a:blip r:embed="rId4"/>
          <a:stretch>
            <a:fillRect/>
          </a:stretch>
        </p:blipFill>
        <p:spPr>
          <a:xfrm>
            <a:off x="8677387" y="807725"/>
            <a:ext cx="2196483" cy="5242550"/>
          </a:xfrm>
          <a:prstGeom prst="rect">
            <a:avLst/>
          </a:prstGeom>
        </p:spPr>
      </p:pic>
      <p:sp>
        <p:nvSpPr>
          <p:cNvPr id="6" name="Rectangle 5">
            <a:extLst>
              <a:ext uri="{FF2B5EF4-FFF2-40B4-BE49-F238E27FC236}">
                <a16:creationId xmlns:a16="http://schemas.microsoft.com/office/drawing/2014/main" id="{42B2C2B2-8B1F-66CE-1BF3-3A5B43D84C57}"/>
              </a:ext>
            </a:extLst>
          </p:cNvPr>
          <p:cNvSpPr/>
          <p:nvPr/>
        </p:nvSpPr>
        <p:spPr>
          <a:xfrm>
            <a:off x="8544560" y="3119120"/>
            <a:ext cx="2479040" cy="309880"/>
          </a:xfrm>
          <a:prstGeom prst="rect">
            <a:avLst/>
          </a:prstGeom>
          <a:solidFill>
            <a:srgbClr val="C00000">
              <a:alpha val="48000"/>
            </a:srgbClr>
          </a:solidFill>
          <a:ln w="12700" cap="flat" cmpd="sng" algn="ctr">
            <a:solidFill>
              <a:schemeClr val="accent1">
                <a:shade val="50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7927158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F8E2201-E714-298C-AD38-F646EF60EF4F}"/>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2A29840-D6C3-02A5-280F-C88A768E12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3ADFD23-3102-0D3F-709C-AFCA0432593F}"/>
              </a:ext>
            </a:extLst>
          </p:cNvPr>
          <p:cNvSpPr>
            <a:spLocks noGrp="1"/>
          </p:cNvSpPr>
          <p:nvPr>
            <p:ph type="title"/>
          </p:nvPr>
        </p:nvSpPr>
        <p:spPr>
          <a:xfrm>
            <a:off x="704088" y="914400"/>
            <a:ext cx="6239599" cy="1307590"/>
          </a:xfrm>
        </p:spPr>
        <p:txBody>
          <a:bodyPr vert="horz" lIns="91440" tIns="45720" rIns="91440" bIns="45720" rtlCol="0" anchor="t">
            <a:normAutofit/>
          </a:bodyPr>
          <a:lstStyle/>
          <a:p>
            <a:r>
              <a:rPr lang="en-IN" dirty="0"/>
              <a:t>Adding context</a:t>
            </a:r>
          </a:p>
        </p:txBody>
      </p:sp>
      <p:cxnSp>
        <p:nvCxnSpPr>
          <p:cNvPr id="11" name="Straight Connector 10">
            <a:extLst>
              <a:ext uri="{FF2B5EF4-FFF2-40B4-BE49-F238E27FC236}">
                <a16:creationId xmlns:a16="http://schemas.microsoft.com/office/drawing/2014/main" id="{EEB38C45-F7EC-3A43-BC8B-7361EA7004F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D26B958-4805-230E-4609-0EEDEE4A7550}"/>
              </a:ext>
            </a:extLst>
          </p:cNvPr>
          <p:cNvSpPr>
            <a:spLocks noGrp="1"/>
          </p:cNvSpPr>
          <p:nvPr>
            <p:ph idx="1"/>
          </p:nvPr>
        </p:nvSpPr>
        <p:spPr>
          <a:xfrm>
            <a:off x="577432" y="1959325"/>
            <a:ext cx="6798727" cy="3306095"/>
          </a:xfrm>
        </p:spPr>
        <p:txBody>
          <a:bodyPr>
            <a:normAutofit fontScale="70000" lnSpcReduction="20000"/>
          </a:bodyPr>
          <a:lstStyle/>
          <a:p>
            <a:pPr marL="0" indent="0">
              <a:buNone/>
            </a:pPr>
            <a:r>
              <a:rPr lang="en-US" dirty="0">
                <a:latin typeface="+mj-lt"/>
              </a:rPr>
              <a:t>You can provide context to GitHub Copilot in several ways to get more relevant responses, including explicitly mentioning files, using slash commands, highlighting code, and using configuration files. The primary methods vary slightly between inline code suggestions and the Copilot Chat interface. </a:t>
            </a:r>
          </a:p>
          <a:p>
            <a:r>
              <a:rPr lang="en-US" dirty="0">
                <a:latin typeface="+mj-lt"/>
              </a:rPr>
              <a:t>Mention files, folders, or symbols</a:t>
            </a:r>
          </a:p>
          <a:p>
            <a:r>
              <a:rPr lang="en-US" dirty="0">
                <a:latin typeface="+mj-lt"/>
              </a:rPr>
              <a:t>Highlight relevant code</a:t>
            </a:r>
          </a:p>
          <a:p>
            <a:r>
              <a:rPr lang="en-US" dirty="0">
                <a:latin typeface="+mj-lt"/>
              </a:rPr>
              <a:t>Use chat variables and agents </a:t>
            </a:r>
          </a:p>
          <a:p>
            <a:pPr lvl="1"/>
            <a:r>
              <a:rPr lang="en-US" dirty="0">
                <a:latin typeface="Cascadia Code" panose="020B0609020000020004" pitchFamily="49" charset="0"/>
                <a:cs typeface="Cascadia Code" panose="020B0609020000020004" pitchFamily="49" charset="0"/>
              </a:rPr>
              <a:t>( </a:t>
            </a:r>
            <a:r>
              <a:rPr lang="en-IN" dirty="0">
                <a:latin typeface="Cascadia Code" panose="020B0609020000020004" pitchFamily="49" charset="0"/>
                <a:cs typeface="Cascadia Code" panose="020B0609020000020004" pitchFamily="49" charset="0"/>
              </a:rPr>
              <a:t>#selection , #file, @workspace or #codebase #fetch [URL]</a:t>
            </a:r>
            <a:r>
              <a:rPr lang="en-IN" dirty="0"/>
              <a:t>)</a:t>
            </a:r>
          </a:p>
          <a:p>
            <a:r>
              <a:rPr lang="en-IN" dirty="0">
                <a:latin typeface="+mj-lt"/>
              </a:rPr>
              <a:t>Slash commands</a:t>
            </a:r>
          </a:p>
          <a:p>
            <a:r>
              <a:rPr lang="en-IN" dirty="0">
                <a:latin typeface="+mj-lt"/>
              </a:rPr>
              <a:t>Drag and Drop</a:t>
            </a:r>
          </a:p>
          <a:p>
            <a:r>
              <a:rPr lang="en-US" dirty="0">
                <a:latin typeface="+mj-lt"/>
              </a:rPr>
              <a:t>Use the Add Context button</a:t>
            </a:r>
            <a:br>
              <a:rPr lang="en-US" dirty="0">
                <a:latin typeface="+mj-lt"/>
              </a:rPr>
            </a:br>
            <a:endParaRPr lang="en-IN" dirty="0">
              <a:latin typeface="+mj-lt"/>
            </a:endParaRPr>
          </a:p>
        </p:txBody>
      </p:sp>
      <p:pic>
        <p:nvPicPr>
          <p:cNvPr id="15" name="Picture 14">
            <a:extLst>
              <a:ext uri="{FF2B5EF4-FFF2-40B4-BE49-F238E27FC236}">
                <a16:creationId xmlns:a16="http://schemas.microsoft.com/office/drawing/2014/main" id="{C13CAC9F-5E84-7971-5F11-CC41E64C2079}"/>
              </a:ext>
            </a:extLst>
          </p:cNvPr>
          <p:cNvPicPr>
            <a:picLocks noChangeAspect="1"/>
          </p:cNvPicPr>
          <p:nvPr/>
        </p:nvPicPr>
        <p:blipFill>
          <a:blip r:embed="rId3"/>
          <a:srcRect l="18451" r="41229"/>
          <a:stretch>
            <a:fillRect/>
          </a:stretch>
        </p:blipFill>
        <p:spPr>
          <a:xfrm>
            <a:off x="7583424" y="10"/>
            <a:ext cx="4608576" cy="6857990"/>
          </a:xfrm>
          <a:prstGeom prst="rect">
            <a:avLst/>
          </a:prstGeom>
        </p:spPr>
      </p:pic>
      <p:pic>
        <p:nvPicPr>
          <p:cNvPr id="7" name="Picture 6">
            <a:extLst>
              <a:ext uri="{FF2B5EF4-FFF2-40B4-BE49-F238E27FC236}">
                <a16:creationId xmlns:a16="http://schemas.microsoft.com/office/drawing/2014/main" id="{A6FC0F29-2E4D-3019-B810-1B950EBA4816}"/>
              </a:ext>
            </a:extLst>
          </p:cNvPr>
          <p:cNvPicPr>
            <a:picLocks noChangeAspect="1"/>
          </p:cNvPicPr>
          <p:nvPr/>
        </p:nvPicPr>
        <p:blipFill>
          <a:blip r:embed="rId4"/>
          <a:stretch>
            <a:fillRect/>
          </a:stretch>
        </p:blipFill>
        <p:spPr>
          <a:xfrm>
            <a:off x="7515996" y="3010765"/>
            <a:ext cx="2600688" cy="1247949"/>
          </a:xfrm>
          <a:prstGeom prst="rect">
            <a:avLst/>
          </a:prstGeom>
        </p:spPr>
      </p:pic>
      <p:sp>
        <p:nvSpPr>
          <p:cNvPr id="8" name="Rectangle 7">
            <a:extLst>
              <a:ext uri="{FF2B5EF4-FFF2-40B4-BE49-F238E27FC236}">
                <a16:creationId xmlns:a16="http://schemas.microsoft.com/office/drawing/2014/main" id="{03FE8951-C2BB-2F62-E833-B4AB739CCCEF}"/>
              </a:ext>
            </a:extLst>
          </p:cNvPr>
          <p:cNvSpPr/>
          <p:nvPr/>
        </p:nvSpPr>
        <p:spPr>
          <a:xfrm>
            <a:off x="7299960" y="3253740"/>
            <a:ext cx="3093720" cy="396240"/>
          </a:xfrm>
          <a:prstGeom prst="rect">
            <a:avLst/>
          </a:prstGeom>
          <a:solidFill>
            <a:schemeClr val="accent1">
              <a:alpha val="38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8761438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4693816-6523-2460-8A83-915CD0D8CA96}"/>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F95DAB7-4D43-E421-408F-4E3C80EAC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BB4DCB9-7358-1E00-D127-788B4953FE28}"/>
              </a:ext>
            </a:extLst>
          </p:cNvPr>
          <p:cNvSpPr>
            <a:spLocks noGrp="1"/>
          </p:cNvSpPr>
          <p:nvPr>
            <p:ph type="title"/>
          </p:nvPr>
        </p:nvSpPr>
        <p:spPr>
          <a:xfrm>
            <a:off x="704088" y="914400"/>
            <a:ext cx="6239599" cy="1307590"/>
          </a:xfrm>
        </p:spPr>
        <p:txBody>
          <a:bodyPr vert="horz" lIns="91440" tIns="45720" rIns="91440" bIns="45720" rtlCol="0" anchor="t">
            <a:normAutofit/>
          </a:bodyPr>
          <a:lstStyle/>
          <a:p>
            <a:r>
              <a:rPr lang="en-IN" dirty="0"/>
              <a:t>Static project</a:t>
            </a:r>
          </a:p>
        </p:txBody>
      </p:sp>
      <p:cxnSp>
        <p:nvCxnSpPr>
          <p:cNvPr id="11" name="Straight Connector 10">
            <a:extLst>
              <a:ext uri="{FF2B5EF4-FFF2-40B4-BE49-F238E27FC236}">
                <a16:creationId xmlns:a16="http://schemas.microsoft.com/office/drawing/2014/main" id="{1DC2077D-50CF-74C2-C569-CCC5DE560A6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F1515BF-3DE9-FEAB-00B8-2A47F00EEF20}"/>
              </a:ext>
            </a:extLst>
          </p:cNvPr>
          <p:cNvSpPr>
            <a:spLocks noGrp="1"/>
          </p:cNvSpPr>
          <p:nvPr>
            <p:ph idx="1"/>
          </p:nvPr>
        </p:nvSpPr>
        <p:spPr>
          <a:xfrm>
            <a:off x="577432" y="1959325"/>
            <a:ext cx="6798727" cy="3450875"/>
          </a:xfrm>
        </p:spPr>
        <p:txBody>
          <a:bodyPr>
            <a:normAutofit fontScale="92500" lnSpcReduction="10000"/>
          </a:bodyPr>
          <a:lstStyle/>
          <a:p>
            <a:pPr marL="0" indent="0">
              <a:buNone/>
            </a:pPr>
            <a:r>
              <a:rPr lang="en-IN" dirty="0">
                <a:latin typeface="+mj-lt"/>
              </a:rPr>
              <a:t>Inside the chat window </a:t>
            </a:r>
            <a:r>
              <a:rPr lang="en-IN" dirty="0">
                <a:highlight>
                  <a:srgbClr val="00FF00"/>
                </a:highlight>
                <a:latin typeface="+mj-lt"/>
              </a:rPr>
              <a:t>keep the mode as plan </a:t>
            </a:r>
            <a:r>
              <a:rPr lang="en-IN" dirty="0">
                <a:latin typeface="+mj-lt"/>
              </a:rPr>
              <a:t>and then let’s start explaining what we are planning.</a:t>
            </a:r>
          </a:p>
          <a:p>
            <a:pPr marL="0" indent="0">
              <a:buNone/>
            </a:pPr>
            <a:r>
              <a:rPr lang="en-IN" dirty="0">
                <a:latin typeface="+mj-lt"/>
              </a:rPr>
              <a:t>Make sure that </a:t>
            </a:r>
            <a:r>
              <a:rPr lang="en-IN" dirty="0">
                <a:highlight>
                  <a:srgbClr val="00FF00"/>
                </a:highlight>
                <a:latin typeface="+mj-lt"/>
              </a:rPr>
              <a:t>there is no context </a:t>
            </a:r>
            <a:r>
              <a:rPr lang="en-IN" dirty="0">
                <a:latin typeface="+mj-lt"/>
              </a:rPr>
              <a:t>is added.</a:t>
            </a:r>
          </a:p>
          <a:p>
            <a:pPr marL="0" indent="0">
              <a:buNone/>
            </a:pPr>
            <a:r>
              <a:rPr lang="en-IN" dirty="0">
                <a:latin typeface="+mj-lt"/>
              </a:rPr>
              <a:t>Below prompt to be added to chat window:</a:t>
            </a:r>
          </a:p>
          <a:p>
            <a:pPr marL="0" indent="0">
              <a:buNone/>
            </a:pPr>
            <a:r>
              <a:rPr lang="en-IN" dirty="0">
                <a:latin typeface="+mj-lt"/>
              </a:rPr>
              <a:t>“ This is a static html project called Capture Data – HTML. We need a UI Library for styling and we need income and Expenses inputs for months Jan-Dec. The UI should be split into 2 tabs (</a:t>
            </a:r>
            <a:r>
              <a:rPr lang="en-IN" sz="2100" dirty="0">
                <a:latin typeface="+mj-lt"/>
              </a:rPr>
              <a:t>"</a:t>
            </a:r>
            <a:r>
              <a:rPr lang="en-IN" dirty="0">
                <a:latin typeface="+mj-lt"/>
              </a:rPr>
              <a:t>Data", "Chart"). The chart tab plots a bar chart of the income and expenses from the inputs in the data tab. We will  need a suitable chart Library to render this chart”</a:t>
            </a:r>
          </a:p>
        </p:txBody>
      </p:sp>
      <p:pic>
        <p:nvPicPr>
          <p:cNvPr id="15" name="Picture 14">
            <a:extLst>
              <a:ext uri="{FF2B5EF4-FFF2-40B4-BE49-F238E27FC236}">
                <a16:creationId xmlns:a16="http://schemas.microsoft.com/office/drawing/2014/main" id="{2CA0147C-2FB6-B744-82AE-DD51AA617C71}"/>
              </a:ext>
            </a:extLst>
          </p:cNvPr>
          <p:cNvPicPr>
            <a:picLocks noChangeAspect="1"/>
          </p:cNvPicPr>
          <p:nvPr/>
        </p:nvPicPr>
        <p:blipFill>
          <a:blip r:embed="rId3"/>
          <a:srcRect l="18451" r="41229"/>
          <a:stretch>
            <a:fillRect/>
          </a:stretch>
        </p:blipFill>
        <p:spPr>
          <a:xfrm>
            <a:off x="7583424" y="10"/>
            <a:ext cx="4608576" cy="6857990"/>
          </a:xfrm>
          <a:prstGeom prst="rect">
            <a:avLst/>
          </a:prstGeom>
        </p:spPr>
      </p:pic>
      <p:pic>
        <p:nvPicPr>
          <p:cNvPr id="7" name="Picture 6">
            <a:extLst>
              <a:ext uri="{FF2B5EF4-FFF2-40B4-BE49-F238E27FC236}">
                <a16:creationId xmlns:a16="http://schemas.microsoft.com/office/drawing/2014/main" id="{962E68C6-6114-ABA8-1542-774489FDC567}"/>
              </a:ext>
            </a:extLst>
          </p:cNvPr>
          <p:cNvPicPr>
            <a:picLocks noChangeAspect="1"/>
          </p:cNvPicPr>
          <p:nvPr/>
        </p:nvPicPr>
        <p:blipFill>
          <a:blip r:embed="rId4"/>
          <a:stretch>
            <a:fillRect/>
          </a:stretch>
        </p:blipFill>
        <p:spPr>
          <a:xfrm>
            <a:off x="7515996" y="3010765"/>
            <a:ext cx="2600688" cy="1247949"/>
          </a:xfrm>
          <a:prstGeom prst="rect">
            <a:avLst/>
          </a:prstGeom>
        </p:spPr>
      </p:pic>
      <p:sp>
        <p:nvSpPr>
          <p:cNvPr id="8" name="Rectangle 7">
            <a:extLst>
              <a:ext uri="{FF2B5EF4-FFF2-40B4-BE49-F238E27FC236}">
                <a16:creationId xmlns:a16="http://schemas.microsoft.com/office/drawing/2014/main" id="{EFFA0C11-18AB-CD9B-0FF3-5DAE19D3C4F0}"/>
              </a:ext>
            </a:extLst>
          </p:cNvPr>
          <p:cNvSpPr/>
          <p:nvPr/>
        </p:nvSpPr>
        <p:spPr>
          <a:xfrm>
            <a:off x="7299960" y="3253740"/>
            <a:ext cx="3093720" cy="396240"/>
          </a:xfrm>
          <a:prstGeom prst="rect">
            <a:avLst/>
          </a:prstGeom>
          <a:solidFill>
            <a:schemeClr val="accent1">
              <a:alpha val="38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58D929DD-E046-B733-5277-949481261493}"/>
              </a:ext>
            </a:extLst>
          </p:cNvPr>
          <p:cNvSpPr txBox="1"/>
          <p:nvPr/>
        </p:nvSpPr>
        <p:spPr>
          <a:xfrm>
            <a:off x="594365" y="5653175"/>
            <a:ext cx="11191235" cy="677108"/>
          </a:xfrm>
          <a:prstGeom prst="rect">
            <a:avLst/>
          </a:prstGeom>
          <a:solidFill>
            <a:srgbClr val="00B050"/>
          </a:solidFill>
        </p:spPr>
        <p:txBody>
          <a:bodyPr wrap="square" rtlCol="0">
            <a:spAutoFit/>
          </a:bodyPr>
          <a:lstStyle/>
          <a:p>
            <a:r>
              <a:rPr lang="en-IN" sz="1900" dirty="0">
                <a:latin typeface="+mj-lt"/>
              </a:rPr>
              <a:t>Note : Make sure you are typing this code in chat window, instead of copy pasting , as while copy pasting , it will capture it as a screen shot</a:t>
            </a:r>
          </a:p>
        </p:txBody>
      </p:sp>
    </p:spTree>
    <p:extLst>
      <p:ext uri="{BB962C8B-B14F-4D97-AF65-F5344CB8AC3E}">
        <p14:creationId xmlns:p14="http://schemas.microsoft.com/office/powerpoint/2010/main" val="29364696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048DD53-6982-D100-B201-3587D15112A8}"/>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DD78ABD-2D10-8179-45C1-CFB86D5CD6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7372443-9FAB-45D6-5792-6A71331AC8F0}"/>
              </a:ext>
            </a:extLst>
          </p:cNvPr>
          <p:cNvSpPr>
            <a:spLocks noGrp="1"/>
          </p:cNvSpPr>
          <p:nvPr>
            <p:ph type="title"/>
          </p:nvPr>
        </p:nvSpPr>
        <p:spPr>
          <a:xfrm>
            <a:off x="704088" y="914400"/>
            <a:ext cx="6239599" cy="1307590"/>
          </a:xfrm>
        </p:spPr>
        <p:txBody>
          <a:bodyPr vert="horz" lIns="91440" tIns="45720" rIns="91440" bIns="45720" rtlCol="0" anchor="t">
            <a:normAutofit/>
          </a:bodyPr>
          <a:lstStyle/>
          <a:p>
            <a:r>
              <a:rPr lang="en-IN" dirty="0"/>
              <a:t>Plan</a:t>
            </a:r>
          </a:p>
        </p:txBody>
      </p:sp>
      <p:cxnSp>
        <p:nvCxnSpPr>
          <p:cNvPr id="11" name="Straight Connector 10">
            <a:extLst>
              <a:ext uri="{FF2B5EF4-FFF2-40B4-BE49-F238E27FC236}">
                <a16:creationId xmlns:a16="http://schemas.microsoft.com/office/drawing/2014/main" id="{EB3AEE10-A125-8774-06D6-137C2C4AB78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17727D8-221B-BEFA-27D7-8D08B8E12282}"/>
              </a:ext>
            </a:extLst>
          </p:cNvPr>
          <p:cNvSpPr>
            <a:spLocks noGrp="1"/>
          </p:cNvSpPr>
          <p:nvPr>
            <p:ph idx="1"/>
          </p:nvPr>
        </p:nvSpPr>
        <p:spPr>
          <a:xfrm>
            <a:off x="577432" y="1959325"/>
            <a:ext cx="6798727" cy="3450875"/>
          </a:xfrm>
        </p:spPr>
        <p:txBody>
          <a:bodyPr>
            <a:normAutofit lnSpcReduction="10000"/>
          </a:bodyPr>
          <a:lstStyle/>
          <a:p>
            <a:pPr marL="0" indent="0">
              <a:buNone/>
            </a:pPr>
            <a:r>
              <a:rPr lang="en-IN" dirty="0">
                <a:latin typeface="+mj-lt"/>
              </a:rPr>
              <a:t>Before giving answer , it might ask you to enable the model you are using for getting replies. </a:t>
            </a:r>
          </a:p>
          <a:p>
            <a:pPr marL="0" indent="0">
              <a:buNone/>
            </a:pPr>
            <a:r>
              <a:rPr lang="en-IN" dirty="0">
                <a:latin typeface="+mj-lt"/>
              </a:rPr>
              <a:t>Copilot has understood the requirement and spitting the plan document .</a:t>
            </a:r>
          </a:p>
          <a:p>
            <a:pPr marL="0" indent="0">
              <a:buNone/>
            </a:pPr>
            <a:r>
              <a:rPr lang="en-IN" dirty="0">
                <a:latin typeface="+mj-lt"/>
              </a:rPr>
              <a:t>Developer must read the document and understand whether the plan process is based on his/her thought process, else need to tweak the prompt again.</a:t>
            </a:r>
          </a:p>
          <a:p>
            <a:pPr marL="0" indent="0">
              <a:buNone/>
            </a:pPr>
            <a:r>
              <a:rPr lang="en-IN" dirty="0">
                <a:latin typeface="+mj-lt"/>
              </a:rPr>
              <a:t>If the outcome is meeting requirement , you need to provide answers to the questions asked by chat (Plan) Agent</a:t>
            </a:r>
          </a:p>
        </p:txBody>
      </p:sp>
      <p:pic>
        <p:nvPicPr>
          <p:cNvPr id="15" name="Picture 14">
            <a:extLst>
              <a:ext uri="{FF2B5EF4-FFF2-40B4-BE49-F238E27FC236}">
                <a16:creationId xmlns:a16="http://schemas.microsoft.com/office/drawing/2014/main" id="{41E205DE-5780-B7AD-D6DE-0A0C4A202064}"/>
              </a:ext>
            </a:extLst>
          </p:cNvPr>
          <p:cNvPicPr>
            <a:picLocks noChangeAspect="1"/>
          </p:cNvPicPr>
          <p:nvPr/>
        </p:nvPicPr>
        <p:blipFill>
          <a:blip r:embed="rId3"/>
          <a:srcRect l="18451" r="41229"/>
          <a:stretch>
            <a:fillRect/>
          </a:stretch>
        </p:blipFill>
        <p:spPr>
          <a:xfrm>
            <a:off x="7583424" y="10"/>
            <a:ext cx="4608576" cy="6857990"/>
          </a:xfrm>
          <a:prstGeom prst="rect">
            <a:avLst/>
          </a:prstGeom>
        </p:spPr>
      </p:pic>
      <p:sp>
        <p:nvSpPr>
          <p:cNvPr id="4" name="TextBox 3">
            <a:extLst>
              <a:ext uri="{FF2B5EF4-FFF2-40B4-BE49-F238E27FC236}">
                <a16:creationId xmlns:a16="http://schemas.microsoft.com/office/drawing/2014/main" id="{A9C7CB37-2E7A-82A6-6B5C-4033483DF041}"/>
              </a:ext>
            </a:extLst>
          </p:cNvPr>
          <p:cNvSpPr txBox="1"/>
          <p:nvPr/>
        </p:nvSpPr>
        <p:spPr>
          <a:xfrm>
            <a:off x="594365" y="5653175"/>
            <a:ext cx="11191235" cy="677108"/>
          </a:xfrm>
          <a:prstGeom prst="rect">
            <a:avLst/>
          </a:prstGeom>
          <a:solidFill>
            <a:srgbClr val="00B050"/>
          </a:solidFill>
        </p:spPr>
        <p:txBody>
          <a:bodyPr wrap="square" rtlCol="0">
            <a:spAutoFit/>
          </a:bodyPr>
          <a:lstStyle/>
          <a:p>
            <a:r>
              <a:rPr lang="en-IN" sz="1900" dirty="0">
                <a:latin typeface="+mj-lt"/>
              </a:rPr>
              <a:t>Note : Make sure you are typing this code in chat window, instead of copy pasting , as while copy pasting , it will capture it as a screen shot</a:t>
            </a:r>
          </a:p>
        </p:txBody>
      </p:sp>
      <p:pic>
        <p:nvPicPr>
          <p:cNvPr id="6" name="Picture 5">
            <a:extLst>
              <a:ext uri="{FF2B5EF4-FFF2-40B4-BE49-F238E27FC236}">
                <a16:creationId xmlns:a16="http://schemas.microsoft.com/office/drawing/2014/main" id="{D1BEFC1A-F681-2CB6-DE14-A17624F328C4}"/>
              </a:ext>
            </a:extLst>
          </p:cNvPr>
          <p:cNvPicPr>
            <a:picLocks noChangeAspect="1"/>
          </p:cNvPicPr>
          <p:nvPr/>
        </p:nvPicPr>
        <p:blipFill>
          <a:blip r:embed="rId4"/>
          <a:stretch>
            <a:fillRect/>
          </a:stretch>
        </p:blipFill>
        <p:spPr>
          <a:xfrm>
            <a:off x="8436761" y="1159933"/>
            <a:ext cx="2786676" cy="4082326"/>
          </a:xfrm>
          <a:prstGeom prst="rect">
            <a:avLst/>
          </a:prstGeom>
        </p:spPr>
      </p:pic>
    </p:spTree>
    <p:extLst>
      <p:ext uri="{BB962C8B-B14F-4D97-AF65-F5344CB8AC3E}">
        <p14:creationId xmlns:p14="http://schemas.microsoft.com/office/powerpoint/2010/main" val="32888085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EFFEB75-0C8D-4CA0-A902-DF0209A76846}"/>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3952627-8B22-16B3-63C8-26307BF813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1A50FFE-1380-C885-0194-596F2485D5C1}"/>
              </a:ext>
            </a:extLst>
          </p:cNvPr>
          <p:cNvSpPr>
            <a:spLocks noGrp="1"/>
          </p:cNvSpPr>
          <p:nvPr>
            <p:ph type="title"/>
          </p:nvPr>
        </p:nvSpPr>
        <p:spPr>
          <a:xfrm>
            <a:off x="704088" y="914400"/>
            <a:ext cx="6239599" cy="1307590"/>
          </a:xfrm>
        </p:spPr>
        <p:txBody>
          <a:bodyPr vert="horz" lIns="91440" tIns="45720" rIns="91440" bIns="45720" rtlCol="0" anchor="t">
            <a:normAutofit/>
          </a:bodyPr>
          <a:lstStyle/>
          <a:p>
            <a:r>
              <a:rPr lang="en-IN" dirty="0"/>
              <a:t>ANSWERS</a:t>
            </a:r>
          </a:p>
        </p:txBody>
      </p:sp>
      <p:cxnSp>
        <p:nvCxnSpPr>
          <p:cNvPr id="11" name="Straight Connector 10">
            <a:extLst>
              <a:ext uri="{FF2B5EF4-FFF2-40B4-BE49-F238E27FC236}">
                <a16:creationId xmlns:a16="http://schemas.microsoft.com/office/drawing/2014/main" id="{4B7EA838-FC87-7343-92A8-A22BD73574D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D92C524-8A43-3963-581A-15B5C393775E}"/>
              </a:ext>
            </a:extLst>
          </p:cNvPr>
          <p:cNvSpPr>
            <a:spLocks noGrp="1"/>
          </p:cNvSpPr>
          <p:nvPr>
            <p:ph idx="1"/>
          </p:nvPr>
        </p:nvSpPr>
        <p:spPr>
          <a:xfrm>
            <a:off x="577432" y="1959325"/>
            <a:ext cx="6798727" cy="3450875"/>
          </a:xfrm>
        </p:spPr>
        <p:txBody>
          <a:bodyPr>
            <a:normAutofit lnSpcReduction="10000"/>
          </a:bodyPr>
          <a:lstStyle/>
          <a:p>
            <a:pPr marL="0" indent="0">
              <a:buNone/>
            </a:pPr>
            <a:r>
              <a:rPr lang="en-IN" dirty="0">
                <a:latin typeface="+mj-lt"/>
              </a:rPr>
              <a:t>Below will be the chat answer:</a:t>
            </a:r>
          </a:p>
          <a:p>
            <a:pPr marL="0" indent="0">
              <a:buNone/>
            </a:pPr>
            <a:r>
              <a:rPr lang="en-IN" dirty="0">
                <a:latin typeface="+mj-lt"/>
              </a:rPr>
              <a:t>To answer your questions</a:t>
            </a:r>
          </a:p>
          <a:p>
            <a:pPr marL="0" indent="0">
              <a:buNone/>
            </a:pPr>
            <a:r>
              <a:rPr lang="en-IN" dirty="0">
                <a:latin typeface="+mj-lt"/>
              </a:rPr>
              <a:t>1 . We do not need any persistence</a:t>
            </a:r>
          </a:p>
          <a:p>
            <a:pPr marL="0" indent="0">
              <a:buNone/>
            </a:pPr>
            <a:r>
              <a:rPr lang="en-IN" dirty="0">
                <a:latin typeface="+mj-lt"/>
              </a:rPr>
              <a:t>2.  It is better to show grouped bar chart</a:t>
            </a:r>
          </a:p>
          <a:p>
            <a:pPr marL="0" indent="0">
              <a:buNone/>
            </a:pPr>
            <a:r>
              <a:rPr lang="en-IN" dirty="0">
                <a:latin typeface="+mj-lt"/>
              </a:rPr>
              <a:t>3.  Only Positive Numbers</a:t>
            </a:r>
          </a:p>
          <a:p>
            <a:pPr marL="0" indent="0">
              <a:buNone/>
            </a:pPr>
            <a:endParaRPr lang="en-IN" dirty="0">
              <a:latin typeface="+mj-lt"/>
            </a:endParaRPr>
          </a:p>
          <a:p>
            <a:pPr marL="0" indent="0">
              <a:buNone/>
            </a:pPr>
            <a:r>
              <a:rPr lang="en-IN" dirty="0">
                <a:latin typeface="+mj-lt"/>
              </a:rPr>
              <a:t>There will be a possibility that you might get different questions as this will not be same for all.</a:t>
            </a:r>
          </a:p>
        </p:txBody>
      </p:sp>
      <p:pic>
        <p:nvPicPr>
          <p:cNvPr id="15" name="Picture 14">
            <a:extLst>
              <a:ext uri="{FF2B5EF4-FFF2-40B4-BE49-F238E27FC236}">
                <a16:creationId xmlns:a16="http://schemas.microsoft.com/office/drawing/2014/main" id="{663DF49F-D619-BA50-56B6-B044BF3A7ADD}"/>
              </a:ext>
            </a:extLst>
          </p:cNvPr>
          <p:cNvPicPr>
            <a:picLocks noChangeAspect="1"/>
          </p:cNvPicPr>
          <p:nvPr/>
        </p:nvPicPr>
        <p:blipFill>
          <a:blip r:embed="rId3"/>
          <a:srcRect l="18451" r="41229"/>
          <a:stretch>
            <a:fillRect/>
          </a:stretch>
        </p:blipFill>
        <p:spPr>
          <a:xfrm>
            <a:off x="7583424" y="10"/>
            <a:ext cx="4608576" cy="6857990"/>
          </a:xfrm>
          <a:prstGeom prst="rect">
            <a:avLst/>
          </a:prstGeom>
        </p:spPr>
      </p:pic>
      <p:sp>
        <p:nvSpPr>
          <p:cNvPr id="4" name="TextBox 3">
            <a:extLst>
              <a:ext uri="{FF2B5EF4-FFF2-40B4-BE49-F238E27FC236}">
                <a16:creationId xmlns:a16="http://schemas.microsoft.com/office/drawing/2014/main" id="{9AAAD33B-BC19-61E5-9355-9B5D3312AA5A}"/>
              </a:ext>
            </a:extLst>
          </p:cNvPr>
          <p:cNvSpPr txBox="1"/>
          <p:nvPr/>
        </p:nvSpPr>
        <p:spPr>
          <a:xfrm>
            <a:off x="594365" y="5653175"/>
            <a:ext cx="11191235" cy="384721"/>
          </a:xfrm>
          <a:prstGeom prst="rect">
            <a:avLst/>
          </a:prstGeom>
          <a:solidFill>
            <a:srgbClr val="00B050"/>
          </a:solidFill>
        </p:spPr>
        <p:txBody>
          <a:bodyPr wrap="square" rtlCol="0">
            <a:spAutoFit/>
          </a:bodyPr>
          <a:lstStyle/>
          <a:p>
            <a:r>
              <a:rPr lang="en-IN" sz="1900" dirty="0">
                <a:latin typeface="+mj-lt"/>
              </a:rPr>
              <a:t>Note : There could be more questions and you need to answer before implementing the Project Plan</a:t>
            </a:r>
          </a:p>
        </p:txBody>
      </p:sp>
      <p:pic>
        <p:nvPicPr>
          <p:cNvPr id="6" name="Picture 5">
            <a:extLst>
              <a:ext uri="{FF2B5EF4-FFF2-40B4-BE49-F238E27FC236}">
                <a16:creationId xmlns:a16="http://schemas.microsoft.com/office/drawing/2014/main" id="{57411E67-3720-7671-6049-697A6FC8BD2C}"/>
              </a:ext>
            </a:extLst>
          </p:cNvPr>
          <p:cNvPicPr>
            <a:picLocks noChangeAspect="1"/>
          </p:cNvPicPr>
          <p:nvPr/>
        </p:nvPicPr>
        <p:blipFill>
          <a:blip r:embed="rId4"/>
          <a:stretch>
            <a:fillRect/>
          </a:stretch>
        </p:blipFill>
        <p:spPr>
          <a:xfrm>
            <a:off x="8436761" y="1159933"/>
            <a:ext cx="2786676" cy="4082326"/>
          </a:xfrm>
          <a:prstGeom prst="rect">
            <a:avLst/>
          </a:prstGeom>
        </p:spPr>
      </p:pic>
    </p:spTree>
    <p:extLst>
      <p:ext uri="{BB962C8B-B14F-4D97-AF65-F5344CB8AC3E}">
        <p14:creationId xmlns:p14="http://schemas.microsoft.com/office/powerpoint/2010/main" val="36171506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641E829-DECA-3669-7D3F-FB0A628BD388}"/>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A08A7E8-6981-CCC5-208C-CED21A0E51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5193311-B959-A574-1518-2E7B99CE02F2}"/>
              </a:ext>
            </a:extLst>
          </p:cNvPr>
          <p:cNvSpPr>
            <a:spLocks noGrp="1"/>
          </p:cNvSpPr>
          <p:nvPr>
            <p:ph type="title"/>
          </p:nvPr>
        </p:nvSpPr>
        <p:spPr>
          <a:xfrm>
            <a:off x="704088" y="914400"/>
            <a:ext cx="6239599" cy="1307590"/>
          </a:xfrm>
        </p:spPr>
        <p:txBody>
          <a:bodyPr vert="horz" lIns="91440" tIns="45720" rIns="91440" bIns="45720" rtlCol="0" anchor="t">
            <a:normAutofit/>
          </a:bodyPr>
          <a:lstStyle/>
          <a:p>
            <a:r>
              <a:rPr lang="en-IN" dirty="0"/>
              <a:t>Start implementation</a:t>
            </a:r>
          </a:p>
        </p:txBody>
      </p:sp>
      <p:cxnSp>
        <p:nvCxnSpPr>
          <p:cNvPr id="11" name="Straight Connector 10">
            <a:extLst>
              <a:ext uri="{FF2B5EF4-FFF2-40B4-BE49-F238E27FC236}">
                <a16:creationId xmlns:a16="http://schemas.microsoft.com/office/drawing/2014/main" id="{4647C54B-6D32-457B-CBCF-59C3DD60B63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792EB90-45F8-6EE6-E2A3-394B6B6832D6}"/>
              </a:ext>
            </a:extLst>
          </p:cNvPr>
          <p:cNvSpPr>
            <a:spLocks noGrp="1"/>
          </p:cNvSpPr>
          <p:nvPr>
            <p:ph idx="1"/>
          </p:nvPr>
        </p:nvSpPr>
        <p:spPr>
          <a:xfrm>
            <a:off x="577432" y="1959325"/>
            <a:ext cx="6798727" cy="3450875"/>
          </a:xfrm>
        </p:spPr>
        <p:txBody>
          <a:bodyPr>
            <a:normAutofit/>
          </a:bodyPr>
          <a:lstStyle/>
          <a:p>
            <a:pPr marL="0" indent="0">
              <a:buNone/>
            </a:pPr>
            <a:r>
              <a:rPr lang="en-IN" dirty="0">
                <a:latin typeface="+mj-lt"/>
              </a:rPr>
              <a:t>Once all the questions are answered, we can implement the project plan. Click on Start implementation.</a:t>
            </a:r>
          </a:p>
          <a:p>
            <a:pPr marL="0" indent="0">
              <a:buNone/>
            </a:pPr>
            <a:r>
              <a:rPr lang="en-IN" dirty="0">
                <a:latin typeface="+mj-lt"/>
              </a:rPr>
              <a:t>You will notice the plan mode now changed to Agent mode and click on Play button </a:t>
            </a:r>
          </a:p>
        </p:txBody>
      </p:sp>
      <p:pic>
        <p:nvPicPr>
          <p:cNvPr id="15" name="Picture 14">
            <a:extLst>
              <a:ext uri="{FF2B5EF4-FFF2-40B4-BE49-F238E27FC236}">
                <a16:creationId xmlns:a16="http://schemas.microsoft.com/office/drawing/2014/main" id="{C8DD20E5-F9B3-0873-7717-69C2C62C19C3}"/>
              </a:ext>
            </a:extLst>
          </p:cNvPr>
          <p:cNvPicPr>
            <a:picLocks noChangeAspect="1"/>
          </p:cNvPicPr>
          <p:nvPr/>
        </p:nvPicPr>
        <p:blipFill>
          <a:blip r:embed="rId3"/>
          <a:srcRect l="18451" r="41229"/>
          <a:stretch>
            <a:fillRect/>
          </a:stretch>
        </p:blipFill>
        <p:spPr>
          <a:xfrm>
            <a:off x="7583424" y="10"/>
            <a:ext cx="4608576" cy="6857990"/>
          </a:xfrm>
          <a:prstGeom prst="rect">
            <a:avLst/>
          </a:prstGeom>
        </p:spPr>
      </p:pic>
      <p:pic>
        <p:nvPicPr>
          <p:cNvPr id="6" name="Picture 5">
            <a:extLst>
              <a:ext uri="{FF2B5EF4-FFF2-40B4-BE49-F238E27FC236}">
                <a16:creationId xmlns:a16="http://schemas.microsoft.com/office/drawing/2014/main" id="{174C481B-5043-5374-2C59-7EA2C4DBA5A1}"/>
              </a:ext>
            </a:extLst>
          </p:cNvPr>
          <p:cNvPicPr>
            <a:picLocks noChangeAspect="1"/>
          </p:cNvPicPr>
          <p:nvPr/>
        </p:nvPicPr>
        <p:blipFill>
          <a:blip r:embed="rId4"/>
          <a:stretch>
            <a:fillRect/>
          </a:stretch>
        </p:blipFill>
        <p:spPr>
          <a:xfrm>
            <a:off x="8436761" y="1159933"/>
            <a:ext cx="2786676" cy="4082326"/>
          </a:xfrm>
          <a:prstGeom prst="rect">
            <a:avLst/>
          </a:prstGeom>
        </p:spPr>
      </p:pic>
      <p:pic>
        <p:nvPicPr>
          <p:cNvPr id="7" name="Picture 6">
            <a:extLst>
              <a:ext uri="{FF2B5EF4-FFF2-40B4-BE49-F238E27FC236}">
                <a16:creationId xmlns:a16="http://schemas.microsoft.com/office/drawing/2014/main" id="{106D2E87-33AD-6C3F-AEBF-9230BBAAB1DE}"/>
              </a:ext>
            </a:extLst>
          </p:cNvPr>
          <p:cNvPicPr>
            <a:picLocks noChangeAspect="1"/>
          </p:cNvPicPr>
          <p:nvPr/>
        </p:nvPicPr>
        <p:blipFill>
          <a:blip r:embed="rId5"/>
          <a:stretch>
            <a:fillRect/>
          </a:stretch>
        </p:blipFill>
        <p:spPr>
          <a:xfrm>
            <a:off x="2729948" y="3136390"/>
            <a:ext cx="314369" cy="381053"/>
          </a:xfrm>
          <a:prstGeom prst="rect">
            <a:avLst/>
          </a:prstGeom>
        </p:spPr>
      </p:pic>
      <p:pic>
        <p:nvPicPr>
          <p:cNvPr id="8" name="Picture 7">
            <a:extLst>
              <a:ext uri="{FF2B5EF4-FFF2-40B4-BE49-F238E27FC236}">
                <a16:creationId xmlns:a16="http://schemas.microsoft.com/office/drawing/2014/main" id="{682887ED-D029-80AD-A651-56DEE6DEBD72}"/>
              </a:ext>
            </a:extLst>
          </p:cNvPr>
          <p:cNvPicPr>
            <a:picLocks noChangeAspect="1"/>
          </p:cNvPicPr>
          <p:nvPr/>
        </p:nvPicPr>
        <p:blipFill>
          <a:blip r:embed="rId4"/>
          <a:srcRect t="94313" r="62115" b="2592"/>
          <a:stretch>
            <a:fillRect/>
          </a:stretch>
        </p:blipFill>
        <p:spPr>
          <a:xfrm>
            <a:off x="5148307" y="2370907"/>
            <a:ext cx="2538689" cy="303787"/>
          </a:xfrm>
          <a:prstGeom prst="rect">
            <a:avLst/>
          </a:prstGeom>
        </p:spPr>
      </p:pic>
      <p:sp>
        <p:nvSpPr>
          <p:cNvPr id="14" name="Freeform: Shape 13">
            <a:extLst>
              <a:ext uri="{FF2B5EF4-FFF2-40B4-BE49-F238E27FC236}">
                <a16:creationId xmlns:a16="http://schemas.microsoft.com/office/drawing/2014/main" id="{39113B2D-4802-049C-44A1-7DA4BB4DC8A8}"/>
              </a:ext>
            </a:extLst>
          </p:cNvPr>
          <p:cNvSpPr/>
          <p:nvPr/>
        </p:nvSpPr>
        <p:spPr>
          <a:xfrm rot="13826671">
            <a:off x="6525902" y="3593809"/>
            <a:ext cx="3234039" cy="322217"/>
          </a:xfrm>
          <a:custGeom>
            <a:avLst/>
            <a:gdLst>
              <a:gd name="csX0" fmla="*/ 806008 w 806008"/>
              <a:gd name="csY0" fmla="*/ 602510 h 1205019"/>
              <a:gd name="csX1" fmla="*/ 242974 w 806008"/>
              <a:gd name="csY1" fmla="*/ 1205019 h 1205019"/>
              <a:gd name="csX2" fmla="*/ 242975 w 806008"/>
              <a:gd name="csY2" fmla="*/ 903764 h 1205019"/>
              <a:gd name="csX3" fmla="*/ 0 w 806008"/>
              <a:gd name="csY3" fmla="*/ 903764 h 1205019"/>
              <a:gd name="csX4" fmla="*/ 0 w 806008"/>
              <a:gd name="csY4" fmla="*/ 301255 h 1205019"/>
              <a:gd name="csX5" fmla="*/ 242975 w 806008"/>
              <a:gd name="csY5" fmla="*/ 301255 h 1205019"/>
              <a:gd name="csX6" fmla="*/ 242975 w 806008"/>
              <a:gd name="csY6" fmla="*/ 0 h 1205019"/>
              <a:gd name="csX7" fmla="*/ 806008 w 806008"/>
              <a:gd name="csY7" fmla="*/ 602510 h 12050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06008" h="1205019">
                <a:moveTo>
                  <a:pt x="806008" y="602510"/>
                </a:moveTo>
                <a:lnTo>
                  <a:pt x="242974" y="1205019"/>
                </a:lnTo>
                <a:lnTo>
                  <a:pt x="242975" y="903764"/>
                </a:lnTo>
                <a:lnTo>
                  <a:pt x="0" y="903764"/>
                </a:lnTo>
                <a:lnTo>
                  <a:pt x="0" y="301255"/>
                </a:lnTo>
                <a:lnTo>
                  <a:pt x="242975" y="301255"/>
                </a:lnTo>
                <a:lnTo>
                  <a:pt x="242975" y="0"/>
                </a:lnTo>
                <a:lnTo>
                  <a:pt x="806008" y="602510"/>
                </a:lnTo>
                <a:close/>
              </a:path>
            </a:pathLst>
          </a:cu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23336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A2BFEBF-1D33-14D9-1184-0CE6775E99F2}"/>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1F9A392-42CC-5DBC-20A9-4B99E093CC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138B5F4-D249-5755-F3A1-34BACE133C9C}"/>
              </a:ext>
            </a:extLst>
          </p:cNvPr>
          <p:cNvSpPr>
            <a:spLocks noGrp="1"/>
          </p:cNvSpPr>
          <p:nvPr>
            <p:ph type="title"/>
          </p:nvPr>
        </p:nvSpPr>
        <p:spPr>
          <a:xfrm>
            <a:off x="704088" y="914400"/>
            <a:ext cx="6239599" cy="1307590"/>
          </a:xfrm>
        </p:spPr>
        <p:txBody>
          <a:bodyPr vert="horz" lIns="91440" tIns="45720" rIns="91440" bIns="45720" rtlCol="0" anchor="t">
            <a:noAutofit/>
          </a:bodyPr>
          <a:lstStyle/>
          <a:p>
            <a:r>
              <a:rPr lang="en-IN" sz="3200" dirty="0"/>
              <a:t>Implement download feature</a:t>
            </a:r>
          </a:p>
        </p:txBody>
      </p:sp>
      <p:cxnSp>
        <p:nvCxnSpPr>
          <p:cNvPr id="11" name="Straight Connector 10">
            <a:extLst>
              <a:ext uri="{FF2B5EF4-FFF2-40B4-BE49-F238E27FC236}">
                <a16:creationId xmlns:a16="http://schemas.microsoft.com/office/drawing/2014/main" id="{0B2574D3-CA10-C921-A27E-BDD4E13A9F2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A1046C8-B641-5AEA-067D-4618242AC498}"/>
              </a:ext>
            </a:extLst>
          </p:cNvPr>
          <p:cNvSpPr>
            <a:spLocks noGrp="1"/>
          </p:cNvSpPr>
          <p:nvPr>
            <p:ph idx="1"/>
          </p:nvPr>
        </p:nvSpPr>
        <p:spPr>
          <a:xfrm>
            <a:off x="577432" y="1959325"/>
            <a:ext cx="6798727" cy="3450875"/>
          </a:xfrm>
        </p:spPr>
        <p:txBody>
          <a:bodyPr>
            <a:normAutofit/>
          </a:bodyPr>
          <a:lstStyle/>
          <a:p>
            <a:pPr marL="0" indent="0">
              <a:buNone/>
            </a:pPr>
            <a:r>
              <a:rPr lang="en-IN" dirty="0">
                <a:latin typeface="+mj-lt"/>
              </a:rPr>
              <a:t>Within index.html keep the curser at a location where you want a download button, and type html comment .</a:t>
            </a:r>
          </a:p>
          <a:p>
            <a:pPr marL="0" indent="0">
              <a:buNone/>
            </a:pPr>
            <a:r>
              <a:rPr lang="en-IN" dirty="0">
                <a:latin typeface="+mj-lt"/>
              </a:rPr>
              <a:t>&lt;!--Download Button--&gt;</a:t>
            </a:r>
          </a:p>
          <a:p>
            <a:pPr marL="0" indent="0">
              <a:buNone/>
            </a:pPr>
            <a:r>
              <a:rPr lang="en-IN" dirty="0">
                <a:latin typeface="+mj-lt"/>
              </a:rPr>
              <a:t>Which will be considered as Inline Suggestion and download button will be created.</a:t>
            </a:r>
          </a:p>
          <a:p>
            <a:pPr marL="0" indent="0">
              <a:buNone/>
            </a:pPr>
            <a:r>
              <a:rPr lang="en-IN" dirty="0">
                <a:latin typeface="+mj-lt"/>
              </a:rPr>
              <a:t>Also using Agent chat mode , we can create buttons as required</a:t>
            </a:r>
          </a:p>
        </p:txBody>
      </p:sp>
      <p:pic>
        <p:nvPicPr>
          <p:cNvPr id="15" name="Picture 14">
            <a:extLst>
              <a:ext uri="{FF2B5EF4-FFF2-40B4-BE49-F238E27FC236}">
                <a16:creationId xmlns:a16="http://schemas.microsoft.com/office/drawing/2014/main" id="{FB6C7AFF-168B-03F7-B305-A88F8C2F2A64}"/>
              </a:ext>
            </a:extLst>
          </p:cNvPr>
          <p:cNvPicPr>
            <a:picLocks noChangeAspect="1"/>
          </p:cNvPicPr>
          <p:nvPr/>
        </p:nvPicPr>
        <p:blipFill>
          <a:blip r:embed="rId3"/>
          <a:srcRect l="18451" r="41229"/>
          <a:stretch>
            <a:fillRect/>
          </a:stretch>
        </p:blipFill>
        <p:spPr>
          <a:xfrm>
            <a:off x="7583424" y="10"/>
            <a:ext cx="4608576" cy="6857990"/>
          </a:xfrm>
          <a:prstGeom prst="rect">
            <a:avLst/>
          </a:prstGeom>
        </p:spPr>
      </p:pic>
    </p:spTree>
    <p:extLst>
      <p:ext uri="{BB962C8B-B14F-4D97-AF65-F5344CB8AC3E}">
        <p14:creationId xmlns:p14="http://schemas.microsoft.com/office/powerpoint/2010/main" val="38560384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10EE8F7-96D0-7136-D431-7E9559A72EAE}"/>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1D476AA-1193-442C-7F23-2D8CF58713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05B016D-5F94-5AE6-9281-99C07DE1ED9A}"/>
              </a:ext>
            </a:extLst>
          </p:cNvPr>
          <p:cNvSpPr>
            <a:spLocks noGrp="1"/>
          </p:cNvSpPr>
          <p:nvPr>
            <p:ph type="title"/>
          </p:nvPr>
        </p:nvSpPr>
        <p:spPr>
          <a:xfrm>
            <a:off x="704088" y="914400"/>
            <a:ext cx="6239599" cy="1307590"/>
          </a:xfrm>
        </p:spPr>
        <p:txBody>
          <a:bodyPr vert="horz" lIns="91440" tIns="45720" rIns="91440" bIns="45720" rtlCol="0" anchor="t">
            <a:noAutofit/>
          </a:bodyPr>
          <a:lstStyle/>
          <a:p>
            <a:r>
              <a:rPr lang="en-IN" sz="2600" dirty="0"/>
              <a:t>GitHub copilot agent instructions</a:t>
            </a:r>
          </a:p>
        </p:txBody>
      </p:sp>
      <p:cxnSp>
        <p:nvCxnSpPr>
          <p:cNvPr id="11" name="Straight Connector 10">
            <a:extLst>
              <a:ext uri="{FF2B5EF4-FFF2-40B4-BE49-F238E27FC236}">
                <a16:creationId xmlns:a16="http://schemas.microsoft.com/office/drawing/2014/main" id="{1EA83BCB-CF13-FE5B-B7E5-E1C195B65A0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9494F63-8453-4006-DAE8-93885088B84C}"/>
              </a:ext>
            </a:extLst>
          </p:cNvPr>
          <p:cNvSpPr>
            <a:spLocks noGrp="1"/>
          </p:cNvSpPr>
          <p:nvPr>
            <p:ph idx="1"/>
          </p:nvPr>
        </p:nvSpPr>
        <p:spPr>
          <a:xfrm>
            <a:off x="464828" y="2013848"/>
            <a:ext cx="6798727" cy="3929752"/>
          </a:xfrm>
        </p:spPr>
        <p:txBody>
          <a:bodyPr>
            <a:normAutofit fontScale="85000" lnSpcReduction="20000"/>
          </a:bodyPr>
          <a:lstStyle/>
          <a:p>
            <a:pPr marL="0" indent="0">
              <a:buNone/>
            </a:pPr>
            <a:r>
              <a:rPr lang="en-IN" dirty="0">
                <a:latin typeface="+mj-lt"/>
              </a:rPr>
              <a:t>Open a new chat window and click on Generate Agent Instructions</a:t>
            </a:r>
          </a:p>
          <a:p>
            <a:r>
              <a:rPr lang="en-IN" dirty="0">
                <a:latin typeface="+mj-lt"/>
              </a:rPr>
              <a:t>Look at the prefilled area will have certain guidelines and also explains what is going to be generated</a:t>
            </a:r>
          </a:p>
          <a:p>
            <a:r>
              <a:rPr lang="en-IN" dirty="0">
                <a:latin typeface="+mj-lt"/>
              </a:rPr>
              <a:t>Once you click on the link, it generates copilot-instructions.md a markdown file which contains complete information about project , coding standards and architectural standards to implement the project plan. </a:t>
            </a:r>
          </a:p>
          <a:p>
            <a:r>
              <a:rPr lang="en-IN" dirty="0">
                <a:latin typeface="+mj-lt"/>
              </a:rPr>
              <a:t>This file name will be either as copilot-instructions.md or AGENTS.md</a:t>
            </a:r>
          </a:p>
          <a:p>
            <a:r>
              <a:rPr lang="en-IN" dirty="0">
                <a:latin typeface="+mj-lt"/>
              </a:rPr>
              <a:t>In the next project we work with AGENTS.md and we see why it is important and useful.</a:t>
            </a:r>
          </a:p>
          <a:p>
            <a:r>
              <a:rPr lang="en-IN" dirty="0">
                <a:latin typeface="+mj-lt"/>
              </a:rPr>
              <a:t>AGENTS.md is universally accepted among various AI Tools, so in case you have shifted from GitHub copilot to another AI tool , still AGENTS.md will be relevant</a:t>
            </a:r>
          </a:p>
        </p:txBody>
      </p:sp>
      <p:pic>
        <p:nvPicPr>
          <p:cNvPr id="15" name="Picture 14">
            <a:extLst>
              <a:ext uri="{FF2B5EF4-FFF2-40B4-BE49-F238E27FC236}">
                <a16:creationId xmlns:a16="http://schemas.microsoft.com/office/drawing/2014/main" id="{4FD0216F-A903-AB72-F140-5BD8881A67B9}"/>
              </a:ext>
            </a:extLst>
          </p:cNvPr>
          <p:cNvPicPr>
            <a:picLocks noChangeAspect="1"/>
          </p:cNvPicPr>
          <p:nvPr/>
        </p:nvPicPr>
        <p:blipFill>
          <a:blip r:embed="rId3"/>
          <a:srcRect l="18451" r="41229"/>
          <a:stretch>
            <a:fillRect/>
          </a:stretch>
        </p:blipFill>
        <p:spPr>
          <a:xfrm>
            <a:off x="7583424" y="10"/>
            <a:ext cx="4608576" cy="6857990"/>
          </a:xfrm>
          <a:prstGeom prst="rect">
            <a:avLst/>
          </a:prstGeom>
        </p:spPr>
      </p:pic>
      <p:pic>
        <p:nvPicPr>
          <p:cNvPr id="5" name="Picture 4">
            <a:extLst>
              <a:ext uri="{FF2B5EF4-FFF2-40B4-BE49-F238E27FC236}">
                <a16:creationId xmlns:a16="http://schemas.microsoft.com/office/drawing/2014/main" id="{D86BF01B-4C34-AD7E-5B29-B5090B560D78}"/>
              </a:ext>
            </a:extLst>
          </p:cNvPr>
          <p:cNvPicPr>
            <a:picLocks noChangeAspect="1"/>
          </p:cNvPicPr>
          <p:nvPr/>
        </p:nvPicPr>
        <p:blipFill>
          <a:blip r:embed="rId4"/>
          <a:stretch>
            <a:fillRect/>
          </a:stretch>
        </p:blipFill>
        <p:spPr>
          <a:xfrm>
            <a:off x="7502815" y="741171"/>
            <a:ext cx="3971712" cy="3978868"/>
          </a:xfrm>
          <a:prstGeom prst="rect">
            <a:avLst/>
          </a:prstGeom>
        </p:spPr>
      </p:pic>
    </p:spTree>
    <p:extLst>
      <p:ext uri="{BB962C8B-B14F-4D97-AF65-F5344CB8AC3E}">
        <p14:creationId xmlns:p14="http://schemas.microsoft.com/office/powerpoint/2010/main" val="15236225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950EF0B-FBE9-E254-CE0F-1533701748DA}"/>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FD3DEB0-CF3B-B572-AC18-AFC16BF230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79851E3-5167-86DC-C43E-41341DD70A79}"/>
              </a:ext>
            </a:extLst>
          </p:cNvPr>
          <p:cNvSpPr>
            <a:spLocks noGrp="1"/>
          </p:cNvSpPr>
          <p:nvPr>
            <p:ph type="title"/>
          </p:nvPr>
        </p:nvSpPr>
        <p:spPr>
          <a:xfrm>
            <a:off x="704088" y="914400"/>
            <a:ext cx="6239599" cy="1307590"/>
          </a:xfrm>
        </p:spPr>
        <p:txBody>
          <a:bodyPr vert="horz" lIns="91440" tIns="45720" rIns="91440" bIns="45720" rtlCol="0" anchor="t">
            <a:noAutofit/>
          </a:bodyPr>
          <a:lstStyle/>
          <a:p>
            <a:r>
              <a:rPr lang="en-IN" sz="2600" dirty="0"/>
              <a:t>Some thing interesting in </a:t>
            </a:r>
            <a:r>
              <a:rPr lang="en-IN" sz="1100" dirty="0"/>
              <a:t>copilot-instructions.md</a:t>
            </a:r>
            <a:endParaRPr lang="en-IN" sz="2600" dirty="0"/>
          </a:p>
        </p:txBody>
      </p:sp>
      <p:cxnSp>
        <p:nvCxnSpPr>
          <p:cNvPr id="11" name="Straight Connector 10">
            <a:extLst>
              <a:ext uri="{FF2B5EF4-FFF2-40B4-BE49-F238E27FC236}">
                <a16:creationId xmlns:a16="http://schemas.microsoft.com/office/drawing/2014/main" id="{DEDBE31A-2C97-045D-5E1A-C1D9D7F3D63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F235B04-CE0A-9714-43E6-A2B68B3BAAD2}"/>
              </a:ext>
            </a:extLst>
          </p:cNvPr>
          <p:cNvSpPr>
            <a:spLocks noGrp="1"/>
          </p:cNvSpPr>
          <p:nvPr>
            <p:ph idx="1"/>
          </p:nvPr>
        </p:nvSpPr>
        <p:spPr>
          <a:xfrm>
            <a:off x="464828" y="2013848"/>
            <a:ext cx="6798727" cy="3929752"/>
          </a:xfrm>
        </p:spPr>
        <p:txBody>
          <a:bodyPr>
            <a:normAutofit fontScale="92500" lnSpcReduction="20000"/>
          </a:bodyPr>
          <a:lstStyle/>
          <a:p>
            <a:pPr marL="0" indent="0">
              <a:buNone/>
            </a:pPr>
            <a:r>
              <a:rPr lang="en-IN" dirty="0">
                <a:latin typeface="+mj-lt"/>
              </a:rPr>
              <a:t>In copilot-instructions.md file, under ##key conventions</a:t>
            </a:r>
          </a:p>
          <a:p>
            <a:pPr marL="0" indent="0">
              <a:buNone/>
            </a:pPr>
            <a:r>
              <a:rPr lang="en-IN" dirty="0">
                <a:latin typeface="+mj-lt"/>
              </a:rPr>
              <a:t>Add a section ### UI Element </a:t>
            </a:r>
          </a:p>
          <a:p>
            <a:pPr marL="0" indent="0">
              <a:buNone/>
            </a:pPr>
            <a:r>
              <a:rPr lang="en-IN" dirty="0">
                <a:latin typeface="+mj-lt"/>
              </a:rPr>
              <a:t>Under that , add the text “All buttons should be in pink colour”</a:t>
            </a:r>
          </a:p>
          <a:p>
            <a:pPr marL="0" indent="0">
              <a:buNone/>
            </a:pPr>
            <a:r>
              <a:rPr lang="en-IN" dirty="0">
                <a:latin typeface="+mj-lt"/>
              </a:rPr>
              <a:t>Go to the chat window , open a new chat window and add this chat instruction to the agent</a:t>
            </a:r>
          </a:p>
          <a:p>
            <a:pPr marL="0" indent="0">
              <a:buNone/>
            </a:pPr>
            <a:r>
              <a:rPr lang="en-IN" dirty="0">
                <a:latin typeface="+mj-lt"/>
              </a:rPr>
              <a:t>“Above the data and chart Tabs, in index.html render a username input which must contain at least  1 uppercase , 1 number, 1 special character and must be at least 5 char long.</a:t>
            </a:r>
          </a:p>
          <a:p>
            <a:pPr marL="0" indent="0">
              <a:buNone/>
            </a:pPr>
            <a:r>
              <a:rPr lang="en-IN" dirty="0">
                <a:latin typeface="+mj-lt"/>
              </a:rPr>
              <a:t>Underneath this input render a submit button. That will give us idea how that markdown file is important.</a:t>
            </a:r>
          </a:p>
          <a:p>
            <a:pPr marL="0" indent="0">
              <a:buNone/>
            </a:pPr>
            <a:r>
              <a:rPr lang="en-IN" dirty="0">
                <a:highlight>
                  <a:srgbClr val="00FF00"/>
                </a:highlight>
                <a:latin typeface="+mj-lt"/>
              </a:rPr>
              <a:t>Also understand how to do refactor using slash command</a:t>
            </a:r>
          </a:p>
        </p:txBody>
      </p:sp>
      <p:pic>
        <p:nvPicPr>
          <p:cNvPr id="15" name="Picture 14">
            <a:extLst>
              <a:ext uri="{FF2B5EF4-FFF2-40B4-BE49-F238E27FC236}">
                <a16:creationId xmlns:a16="http://schemas.microsoft.com/office/drawing/2014/main" id="{E832699D-6194-22CD-7D9F-232064E87E94}"/>
              </a:ext>
            </a:extLst>
          </p:cNvPr>
          <p:cNvPicPr>
            <a:picLocks noChangeAspect="1"/>
          </p:cNvPicPr>
          <p:nvPr/>
        </p:nvPicPr>
        <p:blipFill>
          <a:blip r:embed="rId3"/>
          <a:srcRect l="18451" r="41229"/>
          <a:stretch>
            <a:fillRect/>
          </a:stretch>
        </p:blipFill>
        <p:spPr>
          <a:xfrm>
            <a:off x="7583424" y="10"/>
            <a:ext cx="4608576" cy="6857990"/>
          </a:xfrm>
          <a:prstGeom prst="rect">
            <a:avLst/>
          </a:prstGeom>
        </p:spPr>
      </p:pic>
      <p:sp>
        <p:nvSpPr>
          <p:cNvPr id="4" name="TextBox 3">
            <a:extLst>
              <a:ext uri="{FF2B5EF4-FFF2-40B4-BE49-F238E27FC236}">
                <a16:creationId xmlns:a16="http://schemas.microsoft.com/office/drawing/2014/main" id="{BA0ABAE3-24DB-44BE-DD2E-C90CD458B99F}"/>
              </a:ext>
            </a:extLst>
          </p:cNvPr>
          <p:cNvSpPr txBox="1"/>
          <p:nvPr/>
        </p:nvSpPr>
        <p:spPr>
          <a:xfrm>
            <a:off x="7994366" y="2468309"/>
            <a:ext cx="3732806" cy="1323439"/>
          </a:xfrm>
          <a:prstGeom prst="rect">
            <a:avLst/>
          </a:prstGeom>
          <a:solidFill>
            <a:schemeClr val="accent3"/>
          </a:solidFill>
        </p:spPr>
        <p:txBody>
          <a:bodyPr wrap="square" rtlCol="0">
            <a:spAutoFit/>
          </a:bodyPr>
          <a:lstStyle/>
          <a:p>
            <a:pPr algn="just"/>
            <a:r>
              <a:rPr lang="en-IN" sz="1600" b="1" dirty="0">
                <a:latin typeface="+mj-lt"/>
              </a:rPr>
              <a:t>🥏  Important</a:t>
            </a:r>
          </a:p>
          <a:p>
            <a:pPr algn="just"/>
            <a:r>
              <a:rPr lang="en-IN" sz="1600" dirty="0">
                <a:latin typeface="+mj-lt"/>
              </a:rPr>
              <a:t>Any new Activity in Agent Chat , always </a:t>
            </a:r>
          </a:p>
          <a:p>
            <a:pPr algn="just"/>
            <a:r>
              <a:rPr lang="en-IN" sz="1600" dirty="0">
                <a:latin typeface="+mj-lt"/>
              </a:rPr>
              <a:t>open a new chat window and then start </a:t>
            </a:r>
          </a:p>
          <a:p>
            <a:pPr algn="just"/>
            <a:r>
              <a:rPr lang="en-IN" sz="1600" dirty="0">
                <a:latin typeface="+mj-lt"/>
              </a:rPr>
              <a:t>conversation for a better context and clean context</a:t>
            </a:r>
          </a:p>
        </p:txBody>
      </p:sp>
    </p:spTree>
    <p:extLst>
      <p:ext uri="{BB962C8B-B14F-4D97-AF65-F5344CB8AC3E}">
        <p14:creationId xmlns:p14="http://schemas.microsoft.com/office/powerpoint/2010/main" val="2885897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31C8CF8-4DBB-8DFC-F17F-76081A65D8F6}"/>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8942173-F39F-9177-11F8-D09480A0A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E777335-F4A2-98D9-2FA6-841ABFF21A3B}"/>
              </a:ext>
            </a:extLst>
          </p:cNvPr>
          <p:cNvSpPr>
            <a:spLocks noGrp="1"/>
          </p:cNvSpPr>
          <p:nvPr>
            <p:ph type="title"/>
          </p:nvPr>
        </p:nvSpPr>
        <p:spPr>
          <a:xfrm>
            <a:off x="704088" y="914400"/>
            <a:ext cx="6239599" cy="1307590"/>
          </a:xfrm>
        </p:spPr>
        <p:txBody>
          <a:bodyPr vert="horz" lIns="91440" tIns="45720" rIns="91440" bIns="45720" rtlCol="0" anchor="t">
            <a:noAutofit/>
          </a:bodyPr>
          <a:lstStyle/>
          <a:p>
            <a:r>
              <a:rPr lang="en-IN" sz="2600" dirty="0"/>
              <a:t>Edit mode and refactor specific code</a:t>
            </a:r>
          </a:p>
        </p:txBody>
      </p:sp>
      <p:cxnSp>
        <p:nvCxnSpPr>
          <p:cNvPr id="11" name="Straight Connector 10">
            <a:extLst>
              <a:ext uri="{FF2B5EF4-FFF2-40B4-BE49-F238E27FC236}">
                <a16:creationId xmlns:a16="http://schemas.microsoft.com/office/drawing/2014/main" id="{16CE4AF6-23A7-6CAF-2A50-D8274350374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4D89A36-03A0-F66E-6551-0C5843B7FEB5}"/>
              </a:ext>
            </a:extLst>
          </p:cNvPr>
          <p:cNvSpPr>
            <a:spLocks noGrp="1"/>
          </p:cNvSpPr>
          <p:nvPr>
            <p:ph idx="1"/>
          </p:nvPr>
        </p:nvSpPr>
        <p:spPr>
          <a:xfrm>
            <a:off x="464828" y="2013848"/>
            <a:ext cx="6798727" cy="3929752"/>
          </a:xfrm>
        </p:spPr>
        <p:txBody>
          <a:bodyPr>
            <a:normAutofit/>
          </a:bodyPr>
          <a:lstStyle/>
          <a:p>
            <a:pPr marL="0" indent="0">
              <a:buNone/>
            </a:pPr>
            <a:r>
              <a:rPr lang="en-IN" dirty="0">
                <a:latin typeface="+mj-lt"/>
              </a:rPr>
              <a:t>Select the code generated in index.html and jump into edit mode and type the chat as refactor this code and render that in a form tag. Which makes the necessary changes , and you can thru each change and you can keep or decline those changes ( buttons will appear for each change in the code)</a:t>
            </a:r>
          </a:p>
        </p:txBody>
      </p:sp>
      <p:pic>
        <p:nvPicPr>
          <p:cNvPr id="15" name="Picture 14">
            <a:extLst>
              <a:ext uri="{FF2B5EF4-FFF2-40B4-BE49-F238E27FC236}">
                <a16:creationId xmlns:a16="http://schemas.microsoft.com/office/drawing/2014/main" id="{B66D4981-039E-C514-4DB8-46E2F310ABEA}"/>
              </a:ext>
            </a:extLst>
          </p:cNvPr>
          <p:cNvPicPr>
            <a:picLocks noChangeAspect="1"/>
          </p:cNvPicPr>
          <p:nvPr/>
        </p:nvPicPr>
        <p:blipFill>
          <a:blip r:embed="rId3"/>
          <a:srcRect l="18451" r="41229"/>
          <a:stretch>
            <a:fillRect/>
          </a:stretch>
        </p:blipFill>
        <p:spPr>
          <a:xfrm>
            <a:off x="7583424" y="10"/>
            <a:ext cx="4608576" cy="6857990"/>
          </a:xfrm>
          <a:prstGeom prst="rect">
            <a:avLst/>
          </a:prstGeom>
        </p:spPr>
      </p:pic>
    </p:spTree>
    <p:extLst>
      <p:ext uri="{BB962C8B-B14F-4D97-AF65-F5344CB8AC3E}">
        <p14:creationId xmlns:p14="http://schemas.microsoft.com/office/powerpoint/2010/main" val="16805702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6F1941C-AD43-C087-181A-518DB4554C4E}"/>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6443428-989E-EE70-6DF1-620DBABA9F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2F8D176-FEB8-FF03-40AC-584B28FC0189}"/>
              </a:ext>
            </a:extLst>
          </p:cNvPr>
          <p:cNvSpPr>
            <a:spLocks noGrp="1"/>
          </p:cNvSpPr>
          <p:nvPr>
            <p:ph type="title"/>
          </p:nvPr>
        </p:nvSpPr>
        <p:spPr>
          <a:xfrm>
            <a:off x="704088" y="914400"/>
            <a:ext cx="6239599" cy="1307590"/>
          </a:xfrm>
        </p:spPr>
        <p:txBody>
          <a:bodyPr vert="horz" lIns="91440" tIns="45720" rIns="91440" bIns="45720" rtlCol="0" anchor="t">
            <a:noAutofit/>
          </a:bodyPr>
          <a:lstStyle/>
          <a:p>
            <a:r>
              <a:rPr lang="en-IN" sz="2600" dirty="0"/>
              <a:t>Setup and create unit tests</a:t>
            </a:r>
            <a:br>
              <a:rPr lang="en-IN" sz="2600" dirty="0"/>
            </a:br>
            <a:r>
              <a:rPr lang="en-IN" sz="1600" dirty="0">
                <a:highlight>
                  <a:srgbClr val="808080"/>
                </a:highlight>
              </a:rPr>
              <a:t>slash commands</a:t>
            </a:r>
            <a:endParaRPr lang="en-IN" sz="2600" dirty="0">
              <a:highlight>
                <a:srgbClr val="808080"/>
              </a:highlight>
            </a:endParaRPr>
          </a:p>
        </p:txBody>
      </p:sp>
      <p:cxnSp>
        <p:nvCxnSpPr>
          <p:cNvPr id="11" name="Straight Connector 10">
            <a:extLst>
              <a:ext uri="{FF2B5EF4-FFF2-40B4-BE49-F238E27FC236}">
                <a16:creationId xmlns:a16="http://schemas.microsoft.com/office/drawing/2014/main" id="{D841FFE8-40B6-F69C-29A2-36E7765775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5F5509F0-D05B-50E6-8225-54D7B8945307}"/>
              </a:ext>
            </a:extLst>
          </p:cNvPr>
          <p:cNvSpPr>
            <a:spLocks noGrp="1"/>
          </p:cNvSpPr>
          <p:nvPr>
            <p:ph idx="1"/>
          </p:nvPr>
        </p:nvSpPr>
        <p:spPr>
          <a:xfrm>
            <a:off x="464828" y="2013848"/>
            <a:ext cx="6798727" cy="3929752"/>
          </a:xfrm>
        </p:spPr>
        <p:txBody>
          <a:bodyPr>
            <a:normAutofit/>
          </a:bodyPr>
          <a:lstStyle/>
          <a:p>
            <a:pPr marL="0" indent="0">
              <a:buNone/>
            </a:pPr>
            <a:r>
              <a:rPr lang="en-IN" dirty="0">
                <a:latin typeface="+mj-lt"/>
              </a:rPr>
              <a:t>To conduct unit tests in first place , we need to download node.js and install </a:t>
            </a:r>
            <a:r>
              <a:rPr lang="en-IN" dirty="0" err="1">
                <a:latin typeface="+mj-lt"/>
              </a:rPr>
              <a:t>npm</a:t>
            </a:r>
            <a:r>
              <a:rPr lang="en-IN" dirty="0">
                <a:latin typeface="+mj-lt"/>
              </a:rPr>
              <a:t> .</a:t>
            </a:r>
          </a:p>
        </p:txBody>
      </p:sp>
      <p:pic>
        <p:nvPicPr>
          <p:cNvPr id="15" name="Picture 14">
            <a:extLst>
              <a:ext uri="{FF2B5EF4-FFF2-40B4-BE49-F238E27FC236}">
                <a16:creationId xmlns:a16="http://schemas.microsoft.com/office/drawing/2014/main" id="{B57AE988-58B0-CCE4-D05E-23953876F657}"/>
              </a:ext>
            </a:extLst>
          </p:cNvPr>
          <p:cNvPicPr>
            <a:picLocks noChangeAspect="1"/>
          </p:cNvPicPr>
          <p:nvPr/>
        </p:nvPicPr>
        <p:blipFill>
          <a:blip r:embed="rId3"/>
          <a:srcRect l="18451" r="41229"/>
          <a:stretch>
            <a:fillRect/>
          </a:stretch>
        </p:blipFill>
        <p:spPr>
          <a:xfrm>
            <a:off x="7583424" y="10"/>
            <a:ext cx="4608576" cy="6857990"/>
          </a:xfrm>
          <a:prstGeom prst="rect">
            <a:avLst/>
          </a:prstGeom>
        </p:spPr>
      </p:pic>
      <p:sp>
        <p:nvSpPr>
          <p:cNvPr id="4" name="TextBox 3">
            <a:extLst>
              <a:ext uri="{FF2B5EF4-FFF2-40B4-BE49-F238E27FC236}">
                <a16:creationId xmlns:a16="http://schemas.microsoft.com/office/drawing/2014/main" id="{FA2A0FE9-7355-5D9C-6F23-9EE003F89BC7}"/>
              </a:ext>
            </a:extLst>
          </p:cNvPr>
          <p:cNvSpPr txBox="1"/>
          <p:nvPr/>
        </p:nvSpPr>
        <p:spPr>
          <a:xfrm>
            <a:off x="7994366" y="2468309"/>
            <a:ext cx="3732806" cy="1323439"/>
          </a:xfrm>
          <a:prstGeom prst="rect">
            <a:avLst/>
          </a:prstGeom>
          <a:solidFill>
            <a:schemeClr val="accent3"/>
          </a:solidFill>
        </p:spPr>
        <p:txBody>
          <a:bodyPr wrap="square" rtlCol="0">
            <a:spAutoFit/>
          </a:bodyPr>
          <a:lstStyle/>
          <a:p>
            <a:pPr algn="just"/>
            <a:r>
              <a:rPr lang="en-IN" sz="1600" b="1" dirty="0">
                <a:latin typeface="+mj-lt"/>
              </a:rPr>
              <a:t>🥏  Important</a:t>
            </a:r>
          </a:p>
          <a:p>
            <a:pPr algn="just"/>
            <a:r>
              <a:rPr lang="en-IN" sz="1600" dirty="0">
                <a:latin typeface="+mj-lt"/>
              </a:rPr>
              <a:t>Any new Activity in Agent Chat , always </a:t>
            </a:r>
          </a:p>
          <a:p>
            <a:pPr algn="just"/>
            <a:r>
              <a:rPr lang="en-IN" sz="1600" dirty="0">
                <a:latin typeface="+mj-lt"/>
              </a:rPr>
              <a:t>open a new chat window and then start </a:t>
            </a:r>
          </a:p>
          <a:p>
            <a:pPr algn="just"/>
            <a:r>
              <a:rPr lang="en-IN" sz="1600" dirty="0">
                <a:latin typeface="+mj-lt"/>
              </a:rPr>
              <a:t>conversation for a better context and clean context</a:t>
            </a:r>
          </a:p>
        </p:txBody>
      </p:sp>
    </p:spTree>
    <p:extLst>
      <p:ext uri="{BB962C8B-B14F-4D97-AF65-F5344CB8AC3E}">
        <p14:creationId xmlns:p14="http://schemas.microsoft.com/office/powerpoint/2010/main" val="2466525223"/>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638</TotalTime>
  <Words>1324</Words>
  <Application>Microsoft Office PowerPoint</Application>
  <PresentationFormat>Widescreen</PresentationFormat>
  <Paragraphs>88</Paragraphs>
  <Slides>12</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Akira Expanded</vt:lpstr>
      <vt:lpstr>Aptos</vt:lpstr>
      <vt:lpstr>Arial</vt:lpstr>
      <vt:lpstr>Calisto MT</vt:lpstr>
      <vt:lpstr>Cascadia Code</vt:lpstr>
      <vt:lpstr>Univers Condensed</vt:lpstr>
      <vt:lpstr>ChronicleVTI</vt:lpstr>
      <vt:lpstr>GitHub Copilot</vt:lpstr>
      <vt:lpstr>Selecting Ai model</vt:lpstr>
      <vt:lpstr>Adding context</vt:lpstr>
      <vt:lpstr>Static project</vt:lpstr>
      <vt:lpstr>Plan</vt:lpstr>
      <vt:lpstr>ANSWERS</vt:lpstr>
      <vt:lpstr>Start implementation</vt:lpstr>
      <vt:lpstr>Implement download feature</vt:lpstr>
      <vt:lpstr>GitHub copilot agent instructions</vt:lpstr>
      <vt:lpstr>Some thing interesting in copilot-instructions.md</vt:lpstr>
      <vt:lpstr>Edit mode and refactor specific code</vt:lpstr>
      <vt:lpstr>Setup and create unit tests slash commands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Vijay Perepa</dc:creator>
  <cp:lastModifiedBy>Vijay Perepa</cp:lastModifiedBy>
  <cp:revision>10</cp:revision>
  <dcterms:created xsi:type="dcterms:W3CDTF">2026-01-16T06:17:20Z</dcterms:created>
  <dcterms:modified xsi:type="dcterms:W3CDTF">2026-01-16T17:09:41Z</dcterms:modified>
</cp:coreProperties>
</file>